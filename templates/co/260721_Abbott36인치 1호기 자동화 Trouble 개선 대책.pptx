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notesMasterIdLst>
    <p:notesMasterId r:id="rId10"/>
  </p:notesMasterIdLst>
  <p:handoutMasterIdLst>
    <p:handoutMasterId r:id="rId11"/>
  </p:handoutMasterIdLst>
  <p:sldIdLst>
    <p:sldId id="8086" r:id="rId2"/>
    <p:sldId id="8177" r:id="rId3"/>
    <p:sldId id="8178" r:id="rId4"/>
    <p:sldId id="8174" r:id="rId5"/>
    <p:sldId id="8179" r:id="rId6"/>
    <p:sldId id="8175" r:id="rId7"/>
    <p:sldId id="8180" r:id="rId8"/>
    <p:sldId id="8181" r:id="rId9"/>
  </p:sldIdLst>
  <p:sldSz cx="9144000" cy="5143500" type="screen16x9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4">
          <p15:clr>
            <a:srgbClr val="A4A3A4"/>
          </p15:clr>
        </p15:guide>
        <p15:guide id="2" pos="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6" userDrawn="1">
          <p15:clr>
            <a:srgbClr val="A4A3A4"/>
          </p15:clr>
        </p15:guide>
        <p15:guide id="3" orient="horz" pos="3126" userDrawn="1">
          <p15:clr>
            <a:srgbClr val="A4A3A4"/>
          </p15:clr>
        </p15:guide>
        <p15:guide id="4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  <a:srgbClr val="0000FF"/>
    <a:srgbClr val="164194"/>
    <a:srgbClr val="9966FF"/>
    <a:srgbClr val="EAEAEA"/>
    <a:srgbClr val="FF9933"/>
    <a:srgbClr val="00FF00"/>
    <a:srgbClr val="3333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ECE26-08EC-4BA1-A866-C0D59A886CB3}" v="112" dt="2026-07-20T08:29:31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06" autoAdjust="0"/>
  </p:normalViewPr>
  <p:slideViewPr>
    <p:cSldViewPr>
      <p:cViewPr>
        <p:scale>
          <a:sx n="125" d="100"/>
          <a:sy n="125" d="100"/>
        </p:scale>
        <p:origin x="456" y="318"/>
      </p:cViewPr>
      <p:guideLst>
        <p:guide orient="horz" pos="464"/>
        <p:guide pos="3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648" y="102"/>
      </p:cViewPr>
      <p:guideLst>
        <p:guide orient="horz" pos="3131"/>
        <p:guide pos="2146"/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7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7049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C1A0412-5C13-4903-A452-9D1E461B8645}" type="datetimeFigureOut">
              <a:rPr lang="ko-KR" altLang="en-US"/>
              <a:pPr>
                <a:defRPr/>
              </a:pPr>
              <a:t>2026-07-20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7" y="9426657"/>
            <a:ext cx="2944336" cy="496808"/>
          </a:xfrm>
          <a:prstGeom prst="rect">
            <a:avLst/>
          </a:prstGeom>
        </p:spPr>
        <p:txBody>
          <a:bodyPr vert="horz" lIns="90909" tIns="45456" rIns="90909" bIns="4545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7049" y="9426657"/>
            <a:ext cx="2944336" cy="496808"/>
          </a:xfrm>
          <a:prstGeom prst="rect">
            <a:avLst/>
          </a:prstGeom>
        </p:spPr>
        <p:txBody>
          <a:bodyPr vert="horz" lIns="90909" tIns="45456" rIns="90909" bIns="4545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EDB4B5C-42AD-4361-ADA0-37A50191B6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596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7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7049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2B17A43-7C64-4168-A5CE-9C98F4BDD93B}" type="datetimeFigureOut">
              <a:rPr lang="ko-KR" altLang="en-US"/>
              <a:pPr>
                <a:defRPr/>
              </a:pPr>
              <a:t>2026-07-20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8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09" tIns="45456" rIns="90909" bIns="454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034" y="4715772"/>
            <a:ext cx="5434965" cy="4464923"/>
          </a:xfrm>
          <a:prstGeom prst="rect">
            <a:avLst/>
          </a:prstGeom>
        </p:spPr>
        <p:txBody>
          <a:bodyPr vert="horz" lIns="90909" tIns="45456" rIns="90909" bIns="454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2776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8811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7577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6371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5152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3963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2747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1522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0301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303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767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1645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76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599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4465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14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114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511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5395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542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4775"/>
            <a:ext cx="8686800" cy="5143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8" y="788670"/>
            <a:ext cx="8686800" cy="3771900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626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51413"/>
            <a:ext cx="9144000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54" tIns="45622" rIns="91254" bIns="45622"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1" r="2157"/>
          <a:stretch/>
        </p:blipFill>
        <p:spPr>
          <a:xfrm>
            <a:off x="0" y="3813888"/>
            <a:ext cx="9136242" cy="1242138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91" y="4245989"/>
            <a:ext cx="4107774" cy="308611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0" y="267495"/>
            <a:ext cx="9144000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54" tIns="45622" rIns="91254" bIns="45622"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79512" y="987574"/>
            <a:ext cx="8784976" cy="3312642"/>
          </a:xfrm>
        </p:spPr>
        <p:txBody>
          <a:bodyPr/>
          <a:lstStyle>
            <a:lvl1pPr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587974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39D44A1E-AA87-4F73-8791-86979792DE1D}"/>
              </a:ext>
            </a:extLst>
          </p:cNvPr>
          <p:cNvSpPr/>
          <p:nvPr userDrawn="1"/>
        </p:nvSpPr>
        <p:spPr>
          <a:xfrm>
            <a:off x="-252536" y="366564"/>
            <a:ext cx="1372028" cy="240709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8" y="366564"/>
            <a:ext cx="1871662" cy="32919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68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75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29" r:id="rId13"/>
    <p:sldLayoutId id="2147483832" r:id="rId14"/>
    <p:sldLayoutId id="2147483833" r:id="rId15"/>
    <p:sldLayoutId id="2147483852" r:id="rId16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73703"/>
              </p:ext>
            </p:extLst>
          </p:nvPr>
        </p:nvGraphicFramePr>
        <p:xfrm>
          <a:off x="60896" y="51470"/>
          <a:ext cx="9062392" cy="4982264"/>
        </p:xfrm>
        <a:graphic>
          <a:graphicData uri="http://schemas.openxmlformats.org/drawingml/2006/table">
            <a:tbl>
              <a:tblPr/>
              <a:tblGrid>
                <a:gridCol w="110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416">
                  <a:extLst>
                    <a:ext uri="{9D8B030D-6E8A-4147-A177-3AD203B41FA5}">
                      <a16:colId xmlns:a16="http://schemas.microsoft.com/office/drawing/2014/main" val="3845844877"/>
                    </a:ext>
                  </a:extLst>
                </a:gridCol>
                <a:gridCol w="4066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4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9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9968">
                <a:tc rowSpan="3"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0" algn="l"/>
                        </a:tabLst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■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TPA800/1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→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Abbott36”/1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자동화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Trouble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개선 대책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8016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작성부서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담당관리직</a:t>
                      </a:r>
                      <a:endParaRPr lang="ko-KR" altLang="en-US" b="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발표자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결재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7/21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문제부위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임시 조치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근본 개선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유첨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640"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1. PLC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수정 완료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: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현장 적용 및 작업자 교육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(~7/24)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2. Chute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쳐짐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방지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Type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으로 수정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3. 3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점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정렬봉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형상 변경 검토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공기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0" dirty="0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 </a:t>
                      </a:r>
                      <a:r>
                        <a:rPr lang="ko-KR" altLang="en-US" sz="800" kern="0" dirty="0" err="1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어큠</a:t>
                      </a:r>
                      <a:r>
                        <a:rPr lang="ko-KR" altLang="en-US" sz="800" kern="0" dirty="0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롤러 및 노후 실린더 점검 및 교체 예정 </a:t>
                      </a:r>
                      <a:r>
                        <a:rPr lang="en-US" altLang="ko-KR" sz="800" kern="0" dirty="0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(~8/30)</a:t>
                      </a:r>
                      <a:endParaRPr lang="ko-KR" altLang="en-US" sz="800" kern="0" dirty="0">
                        <a:ln>
                          <a:solidFill>
                            <a:schemeClr val="bg1">
                              <a:lumMod val="75000"/>
                              <a:alpha val="2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※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설비 진동을 완전히 없애기는 어려움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1. TPA1200T Vision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적용 진행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중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공기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: Wheel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불량 유형 등록 완료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유효성 모니터링 운영 중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(~8/30)</a:t>
                      </a: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6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1.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원인 분석 및 개선 검토 계획 수립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56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분석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유첨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99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228600" marR="0" lvl="0" indent="-228600" algn="l" defTabSz="777577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1.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제품 휨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정렬 실린더 수축 시 정렬바와 제품간 마찰로 제품 틀어짐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설비 자체 진동으로 인한 제품 틀어짐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치형 깨짐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제품 정렬 틀어진 상태에서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Mullite Pusher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하강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Mullite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Pusher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와 제품간 충돌로 인한 치형 깨짐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컨베어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이송간 제품 틀어짐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3.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소결로 내 제품 엉킴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(5/26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조시장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발표 사항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indent="0">
                        <a:lnSpc>
                          <a:spcPts val="1300"/>
                        </a:lnSpc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1.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자동 소결 투입으로 간헐적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Trouble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시 인지 못하고 소결 진행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31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900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표준 반영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7951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수평전개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6348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6CE5E9BC-6196-F3D1-9020-A861CCB1980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882" y="910659"/>
            <a:ext cx="1011119" cy="128936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9376037-B1A0-548D-5497-1C2926A936C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08" r="5734"/>
          <a:stretch>
            <a:fillRect/>
          </a:stretch>
        </p:blipFill>
        <p:spPr>
          <a:xfrm>
            <a:off x="1165173" y="910659"/>
            <a:ext cx="998473" cy="1289369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5256053" y="843535"/>
            <a:ext cx="1" cy="720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5249195" y="71379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8619949" y="843535"/>
            <a:ext cx="0" cy="2412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1"/>
          <p:cNvSpPr>
            <a:spLocks noChangeArrowheads="1"/>
          </p:cNvSpPr>
          <p:nvPr/>
        </p:nvSpPr>
        <p:spPr bwMode="auto">
          <a:xfrm>
            <a:off x="8619950" y="83142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2293144" y="8435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</a:rPr>
                        <a:t>처리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89610"/>
              </p:ext>
            </p:extLst>
          </p:nvPr>
        </p:nvGraphicFramePr>
        <p:xfrm>
          <a:off x="2293143" y="1635646"/>
          <a:ext cx="2350865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근본개선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완료전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차기생산 임시조치 방법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238447" y="809650"/>
            <a:ext cx="19030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(   </a:t>
            </a:r>
            <a:r>
              <a:rPr lang="ko-KR" altLang="en-US" sz="800" dirty="0">
                <a:latin typeface="+mn-ea"/>
                <a:ea typeface="+mn-ea"/>
              </a:rPr>
              <a:t>선별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재작업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특채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기타   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435644" y="804829"/>
            <a:ext cx="292653" cy="213541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76967"/>
              </p:ext>
            </p:extLst>
          </p:nvPr>
        </p:nvGraphicFramePr>
        <p:xfrm>
          <a:off x="2293378" y="26056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측면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62743"/>
              </p:ext>
            </p:extLst>
          </p:nvPr>
        </p:nvGraphicFramePr>
        <p:xfrm>
          <a:off x="5724466" y="825708"/>
          <a:ext cx="1477291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및 유출 방지 대책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695908"/>
              </p:ext>
            </p:extLst>
          </p:nvPr>
        </p:nvGraphicFramePr>
        <p:xfrm>
          <a:off x="6707669" y="3303806"/>
          <a:ext cx="2184811" cy="92494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표준류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개정여부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PFMEA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관리계획서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작업표준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C/Sheet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작업요령서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Group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88604"/>
              </p:ext>
            </p:extLst>
          </p:nvPr>
        </p:nvGraphicFramePr>
        <p:xfrm>
          <a:off x="5777987" y="4540719"/>
          <a:ext cx="3237268" cy="419011"/>
        </p:xfrm>
        <a:graphic>
          <a:graphicData uri="http://schemas.openxmlformats.org/drawingml/2006/table">
            <a:tbl>
              <a:tblPr/>
              <a:tblGrid>
                <a:gridCol w="12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9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대상부품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적용유무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적용계획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B/Plate,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Wheel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8/30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E551DB88-60E1-C89C-386D-B8F4011C6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480" y="57404"/>
            <a:ext cx="463726" cy="151790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343F972-441C-577E-0B5E-413A536F8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781886"/>
              </p:ext>
            </p:extLst>
          </p:nvPr>
        </p:nvGraphicFramePr>
        <p:xfrm>
          <a:off x="133833" y="2887340"/>
          <a:ext cx="2072452" cy="208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발생일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지속 발생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원인공정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소결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발견공정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소결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취출부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작업설비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TPA800/1 → Abbott36”/1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자동화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불량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일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62ea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폐기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4C22E1D-5386-63DA-E451-C341ED113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7902"/>
              </p:ext>
            </p:extLst>
          </p:nvPr>
        </p:nvGraphicFramePr>
        <p:xfrm>
          <a:off x="2334527" y="1078632"/>
          <a:ext cx="28330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Lot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 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불량률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(PPM)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0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A179D59-99A8-290D-0CB1-32843F4A6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035139"/>
              </p:ext>
            </p:extLst>
          </p:nvPr>
        </p:nvGraphicFramePr>
        <p:xfrm>
          <a:off x="152882" y="2302121"/>
          <a:ext cx="2014363" cy="31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현상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휨 및 깨짐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7D2A004-3604-BD0D-A26C-E1C32B911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957280"/>
              </p:ext>
            </p:extLst>
          </p:nvPr>
        </p:nvGraphicFramePr>
        <p:xfrm>
          <a:off x="2293378" y="4361693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EF7A4C0-7D0E-F88A-9502-160DB14638A0}"/>
              </a:ext>
            </a:extLst>
          </p:cNvPr>
          <p:cNvCxnSpPr>
            <a:cxnSpLocks/>
          </p:cNvCxnSpPr>
          <p:nvPr/>
        </p:nvCxnSpPr>
        <p:spPr>
          <a:xfrm>
            <a:off x="2302020" y="4333850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35E566-B5AB-A370-F737-60F2E0953C48}"/>
              </a:ext>
            </a:extLst>
          </p:cNvPr>
          <p:cNvSpPr txBox="1"/>
          <p:nvPr/>
        </p:nvSpPr>
        <p:spPr>
          <a:xfrm>
            <a:off x="8648648" y="1202619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7/24</a:t>
            </a:r>
            <a:endParaRPr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FC172C1-7C01-0D7A-BC07-5C8E0D35C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332236"/>
              </p:ext>
            </p:extLst>
          </p:nvPr>
        </p:nvGraphicFramePr>
        <p:xfrm>
          <a:off x="5741078" y="2294975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1C9597-AEE0-AF4C-6BC8-63F3FD2EA407}"/>
              </a:ext>
            </a:extLst>
          </p:cNvPr>
          <p:cNvCxnSpPr>
            <a:cxnSpLocks/>
          </p:cNvCxnSpPr>
          <p:nvPr/>
        </p:nvCxnSpPr>
        <p:spPr>
          <a:xfrm>
            <a:off x="5701642" y="2263448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F72058D-6D6D-94E5-B34F-FBA2F07BD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840" y="455801"/>
            <a:ext cx="372557" cy="246061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B9D53AC-6E4E-2EAD-7C1C-E28155C7E098}"/>
              </a:ext>
            </a:extLst>
          </p:cNvPr>
          <p:cNvCxnSpPr>
            <a:cxnSpLocks/>
          </p:cNvCxnSpPr>
          <p:nvPr/>
        </p:nvCxnSpPr>
        <p:spPr>
          <a:xfrm flipH="1">
            <a:off x="1831158" y="1347092"/>
            <a:ext cx="21031" cy="198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FE2EA7-9D55-E2DA-9C1D-1C5CF1AF78A5}"/>
              </a:ext>
            </a:extLst>
          </p:cNvPr>
          <p:cNvSpPr txBox="1"/>
          <p:nvPr/>
        </p:nvSpPr>
        <p:spPr>
          <a:xfrm>
            <a:off x="8675091" y="2521939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</a:rPr>
              <a:t>8/30</a:t>
            </a:r>
            <a:endParaRPr lang="ko-KR" altLang="en-US" sz="800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173DBD-444F-CB7A-E600-33087B7FE288}"/>
              </a:ext>
            </a:extLst>
          </p:cNvPr>
          <p:cNvSpPr txBox="1"/>
          <p:nvPr/>
        </p:nvSpPr>
        <p:spPr>
          <a:xfrm>
            <a:off x="8648648" y="1377572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highlight>
                  <a:srgbClr val="008000"/>
                </a:highlight>
                <a:latin typeface="+mn-ea"/>
                <a:ea typeface="+mn-ea"/>
              </a:rPr>
              <a:t>7/17</a:t>
            </a:r>
            <a:endParaRPr lang="ko-KR" altLang="en-US" sz="800" dirty="0">
              <a:solidFill>
                <a:schemeClr val="bg1"/>
              </a:solidFill>
              <a:highlight>
                <a:srgbClr val="008000"/>
              </a:highlight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9433FC-DA29-ADC2-C64D-41FFC3680613}"/>
              </a:ext>
            </a:extLst>
          </p:cNvPr>
          <p:cNvSpPr txBox="1"/>
          <p:nvPr/>
        </p:nvSpPr>
        <p:spPr>
          <a:xfrm>
            <a:off x="8648648" y="1575828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8/30</a:t>
            </a:r>
            <a:endParaRPr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0071F-977A-5DD1-0538-8D5CF2191279}"/>
              </a:ext>
            </a:extLst>
          </p:cNvPr>
          <p:cNvSpPr txBox="1"/>
          <p:nvPr/>
        </p:nvSpPr>
        <p:spPr>
          <a:xfrm>
            <a:off x="8648648" y="1728228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8/30</a:t>
            </a:r>
            <a:endParaRPr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70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6475E8D-DA34-2441-1128-C37AF34F9B6C}"/>
              </a:ext>
            </a:extLst>
          </p:cNvPr>
          <p:cNvSpPr/>
          <p:nvPr/>
        </p:nvSpPr>
        <p:spPr>
          <a:xfrm>
            <a:off x="1985591" y="333227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EFCA639-DD86-1263-65C2-BBC81CBE5A07}"/>
              </a:ext>
            </a:extLst>
          </p:cNvPr>
          <p:cNvSpPr/>
          <p:nvPr/>
        </p:nvSpPr>
        <p:spPr>
          <a:xfrm>
            <a:off x="2161482" y="333227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EB67F0B-AB40-4D26-B14E-E3F6BD7462FE}"/>
              </a:ext>
            </a:extLst>
          </p:cNvPr>
          <p:cNvSpPr/>
          <p:nvPr/>
        </p:nvSpPr>
        <p:spPr>
          <a:xfrm>
            <a:off x="2359448" y="333227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2B4C312-8393-9442-F22F-B05B7B8E306A}"/>
              </a:ext>
            </a:extLst>
          </p:cNvPr>
          <p:cNvSpPr/>
          <p:nvPr/>
        </p:nvSpPr>
        <p:spPr>
          <a:xfrm>
            <a:off x="3223780" y="3309274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FDA9358-8588-C159-EA0B-79735FC73C94}"/>
              </a:ext>
            </a:extLst>
          </p:cNvPr>
          <p:cNvSpPr/>
          <p:nvPr/>
        </p:nvSpPr>
        <p:spPr>
          <a:xfrm>
            <a:off x="3399672" y="3309274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A63E6A7-FBA4-A766-27C3-FC3A2E3FFC59}"/>
              </a:ext>
            </a:extLst>
          </p:cNvPr>
          <p:cNvSpPr/>
          <p:nvPr/>
        </p:nvSpPr>
        <p:spPr>
          <a:xfrm>
            <a:off x="3597637" y="3309274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E243F-8A29-F825-0913-F2A7C84E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6" name="文本占位符 58">
            <a:extLst>
              <a:ext uri="{FF2B5EF4-FFF2-40B4-BE49-F238E27FC236}">
                <a16:creationId xmlns:a16="http://schemas.microsoft.com/office/drawing/2014/main" id="{AEB5C30F-9B26-39D1-B7ED-2847C9196D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36312" y="367545"/>
            <a:ext cx="5983758" cy="32919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원인 분석</a:t>
            </a:r>
            <a:endParaRPr lang="zh-CN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37">
            <a:extLst>
              <a:ext uri="{FF2B5EF4-FFF2-40B4-BE49-F238E27FC236}">
                <a16:creationId xmlns:a16="http://schemas.microsoft.com/office/drawing/2014/main" id="{D6BD1215-43F5-27A2-4D47-A98190F3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86757"/>
            <a:ext cx="49809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제품 휨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D576554-3134-82D0-4C56-F559E023E1E2}"/>
              </a:ext>
            </a:extLst>
          </p:cNvPr>
          <p:cNvSpPr/>
          <p:nvPr/>
        </p:nvSpPr>
        <p:spPr>
          <a:xfrm>
            <a:off x="3217430" y="2260237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3228380-DF01-920A-CF46-8D4992270507}"/>
              </a:ext>
            </a:extLst>
          </p:cNvPr>
          <p:cNvSpPr/>
          <p:nvPr/>
        </p:nvSpPr>
        <p:spPr>
          <a:xfrm>
            <a:off x="3393322" y="2260237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A16E9B9-5E25-7F97-4F74-9879239C85EF}"/>
              </a:ext>
            </a:extLst>
          </p:cNvPr>
          <p:cNvSpPr/>
          <p:nvPr/>
        </p:nvSpPr>
        <p:spPr>
          <a:xfrm>
            <a:off x="3591287" y="2260237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F233F8-97D1-705A-E10D-50D4929C7B13}"/>
              </a:ext>
            </a:extLst>
          </p:cNvPr>
          <p:cNvSpPr/>
          <p:nvPr/>
        </p:nvSpPr>
        <p:spPr>
          <a:xfrm>
            <a:off x="2938835" y="2746227"/>
            <a:ext cx="955122" cy="1144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F61853-0F32-A70F-290D-322B61CB5B8E}"/>
              </a:ext>
            </a:extLst>
          </p:cNvPr>
          <p:cNvSpPr/>
          <p:nvPr/>
        </p:nvSpPr>
        <p:spPr>
          <a:xfrm>
            <a:off x="3091377" y="2554428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DC5C78-8A4F-E3DC-D06C-20B991C98EE4}"/>
              </a:ext>
            </a:extLst>
          </p:cNvPr>
          <p:cNvSpPr/>
          <p:nvPr/>
        </p:nvSpPr>
        <p:spPr>
          <a:xfrm>
            <a:off x="3091377" y="2601913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0642ADD-1731-ADD3-3CBB-209A0C6656C4}"/>
              </a:ext>
            </a:extLst>
          </p:cNvPr>
          <p:cNvSpPr/>
          <p:nvPr/>
        </p:nvSpPr>
        <p:spPr>
          <a:xfrm>
            <a:off x="3091377" y="2650670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E73D0F5-98E1-ACAA-EC9E-820FBA2E9C15}"/>
              </a:ext>
            </a:extLst>
          </p:cNvPr>
          <p:cNvSpPr/>
          <p:nvPr/>
        </p:nvSpPr>
        <p:spPr>
          <a:xfrm>
            <a:off x="3091377" y="2699682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F76B48-F8B7-6D0B-EAC0-B99DA56F5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851" y="2530142"/>
            <a:ext cx="503314" cy="290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43" name="Rectangle 37">
            <a:extLst>
              <a:ext uri="{FF2B5EF4-FFF2-40B4-BE49-F238E27FC236}">
                <a16:creationId xmlns:a16="http://schemas.microsoft.com/office/drawing/2014/main" id="{D3CF17E0-C18D-D931-918E-456A051E2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304" y="2694523"/>
            <a:ext cx="503314" cy="21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D7C684C-A1C9-E74F-9EE4-E13DB9E30E19}"/>
              </a:ext>
            </a:extLst>
          </p:cNvPr>
          <p:cNvSpPr/>
          <p:nvPr/>
        </p:nvSpPr>
        <p:spPr>
          <a:xfrm>
            <a:off x="2938834" y="1124776"/>
            <a:ext cx="925072" cy="9768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E7B5A986-5496-4224-572B-5CDD0BB8D64B}"/>
              </a:ext>
            </a:extLst>
          </p:cNvPr>
          <p:cNvSpPr/>
          <p:nvPr/>
        </p:nvSpPr>
        <p:spPr>
          <a:xfrm>
            <a:off x="3059496" y="1252190"/>
            <a:ext cx="683749" cy="7220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AF20B98-C092-5159-830A-5D050106576F}"/>
              </a:ext>
            </a:extLst>
          </p:cNvPr>
          <p:cNvSpPr/>
          <p:nvPr/>
        </p:nvSpPr>
        <p:spPr>
          <a:xfrm>
            <a:off x="3119826" y="1315897"/>
            <a:ext cx="563088" cy="59459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7E21932-5FAC-2A3F-55F0-D79ED2A63CB3}"/>
              </a:ext>
            </a:extLst>
          </p:cNvPr>
          <p:cNvSpPr/>
          <p:nvPr/>
        </p:nvSpPr>
        <p:spPr>
          <a:xfrm>
            <a:off x="3204260" y="1387975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6588DC07-9411-DB78-620A-510187708EC4}"/>
              </a:ext>
            </a:extLst>
          </p:cNvPr>
          <p:cNvSpPr/>
          <p:nvPr/>
        </p:nvSpPr>
        <p:spPr>
          <a:xfrm>
            <a:off x="3555957" y="1549489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CB18451-263D-2DC8-00B6-ABECC40C8EEF}"/>
              </a:ext>
            </a:extLst>
          </p:cNvPr>
          <p:cNvSpPr/>
          <p:nvPr/>
        </p:nvSpPr>
        <p:spPr>
          <a:xfrm>
            <a:off x="3280709" y="1773861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BEAF3E3-96C2-8B2C-7F5C-C6A27EB75EDC}"/>
              </a:ext>
            </a:extLst>
          </p:cNvPr>
          <p:cNvSpPr/>
          <p:nvPr/>
        </p:nvSpPr>
        <p:spPr>
          <a:xfrm>
            <a:off x="1985122" y="2260237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3A9A7FF-98DE-CC88-FB76-30C19A379909}"/>
              </a:ext>
            </a:extLst>
          </p:cNvPr>
          <p:cNvSpPr/>
          <p:nvPr/>
        </p:nvSpPr>
        <p:spPr>
          <a:xfrm>
            <a:off x="2161013" y="2260237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220CB89-27FB-7EF1-6FB4-6132A377BA59}"/>
              </a:ext>
            </a:extLst>
          </p:cNvPr>
          <p:cNvSpPr/>
          <p:nvPr/>
        </p:nvSpPr>
        <p:spPr>
          <a:xfrm>
            <a:off x="2358979" y="2260237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4D8406B-898C-CC95-E324-797F1ED645BD}"/>
              </a:ext>
            </a:extLst>
          </p:cNvPr>
          <p:cNvSpPr/>
          <p:nvPr/>
        </p:nvSpPr>
        <p:spPr>
          <a:xfrm>
            <a:off x="1706527" y="2746227"/>
            <a:ext cx="955122" cy="1144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8189D81-3206-7F66-C117-D1699343F9F7}"/>
              </a:ext>
            </a:extLst>
          </p:cNvPr>
          <p:cNvSpPr/>
          <p:nvPr/>
        </p:nvSpPr>
        <p:spPr>
          <a:xfrm>
            <a:off x="1859069" y="2475063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70310CB-86D3-3EE9-1AB9-C20C89831113}"/>
              </a:ext>
            </a:extLst>
          </p:cNvPr>
          <p:cNvSpPr/>
          <p:nvPr/>
        </p:nvSpPr>
        <p:spPr>
          <a:xfrm>
            <a:off x="1859069" y="2545020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34221A1-0ACB-0FEE-FDCA-42C22AB003F4}"/>
              </a:ext>
            </a:extLst>
          </p:cNvPr>
          <p:cNvSpPr/>
          <p:nvPr/>
        </p:nvSpPr>
        <p:spPr>
          <a:xfrm>
            <a:off x="1859069" y="2616249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AE78B0E-B876-04D7-1DAB-4C22EF71786C}"/>
              </a:ext>
            </a:extLst>
          </p:cNvPr>
          <p:cNvSpPr/>
          <p:nvPr/>
        </p:nvSpPr>
        <p:spPr>
          <a:xfrm>
            <a:off x="1859069" y="2699682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C0D29CA7-A410-2D48-E311-4F60AEEE52C9}"/>
              </a:ext>
            </a:extLst>
          </p:cNvPr>
          <p:cNvSpPr/>
          <p:nvPr/>
        </p:nvSpPr>
        <p:spPr>
          <a:xfrm>
            <a:off x="1706527" y="1125605"/>
            <a:ext cx="925072" cy="9768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B04C479-2F06-1BEA-5BC6-9D1F07B457DA}"/>
              </a:ext>
            </a:extLst>
          </p:cNvPr>
          <p:cNvSpPr/>
          <p:nvPr/>
        </p:nvSpPr>
        <p:spPr>
          <a:xfrm>
            <a:off x="1827188" y="1253019"/>
            <a:ext cx="683749" cy="7220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18AA2B6-2081-7E18-2104-A64B89482FAC}"/>
              </a:ext>
            </a:extLst>
          </p:cNvPr>
          <p:cNvSpPr/>
          <p:nvPr/>
        </p:nvSpPr>
        <p:spPr>
          <a:xfrm>
            <a:off x="1887519" y="1316726"/>
            <a:ext cx="563088" cy="59459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E57B3A6-3700-51F9-24AA-D88A54FEF73B}"/>
              </a:ext>
            </a:extLst>
          </p:cNvPr>
          <p:cNvSpPr/>
          <p:nvPr/>
        </p:nvSpPr>
        <p:spPr>
          <a:xfrm>
            <a:off x="1971953" y="1388805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6A2F4345-C056-ED2B-9E56-6B0991685ADF}"/>
              </a:ext>
            </a:extLst>
          </p:cNvPr>
          <p:cNvSpPr/>
          <p:nvPr/>
        </p:nvSpPr>
        <p:spPr>
          <a:xfrm>
            <a:off x="2323649" y="1550318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DECCB57B-6745-8CDC-BD26-82844AE18F70}"/>
              </a:ext>
            </a:extLst>
          </p:cNvPr>
          <p:cNvSpPr/>
          <p:nvPr/>
        </p:nvSpPr>
        <p:spPr>
          <a:xfrm>
            <a:off x="2048401" y="1774691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AB5CFE2-32F4-DCA8-51FE-62D54FC1364A}"/>
              </a:ext>
            </a:extLst>
          </p:cNvPr>
          <p:cNvSpPr/>
          <p:nvPr/>
        </p:nvSpPr>
        <p:spPr>
          <a:xfrm>
            <a:off x="842653" y="2259408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0836F64-12D3-B47F-F49E-53FF1ACF59F9}"/>
              </a:ext>
            </a:extLst>
          </p:cNvPr>
          <p:cNvSpPr/>
          <p:nvPr/>
        </p:nvSpPr>
        <p:spPr>
          <a:xfrm>
            <a:off x="930599" y="2259408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AD110E3-E723-965B-373C-6A5F642E86A8}"/>
              </a:ext>
            </a:extLst>
          </p:cNvPr>
          <p:cNvSpPr/>
          <p:nvPr/>
        </p:nvSpPr>
        <p:spPr>
          <a:xfrm>
            <a:off x="1024993" y="2259408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7B70215-CAD0-EDDC-3AD3-0ABEF38AD49F}"/>
              </a:ext>
            </a:extLst>
          </p:cNvPr>
          <p:cNvSpPr/>
          <p:nvPr/>
        </p:nvSpPr>
        <p:spPr>
          <a:xfrm>
            <a:off x="476112" y="2745397"/>
            <a:ext cx="955122" cy="1144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2920894-3467-E71E-CDD2-2058ECD992EB}"/>
              </a:ext>
            </a:extLst>
          </p:cNvPr>
          <p:cNvSpPr/>
          <p:nvPr/>
        </p:nvSpPr>
        <p:spPr>
          <a:xfrm>
            <a:off x="725680" y="2559081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AA5AB58-73B7-64DC-3940-9CA4E5D52859}"/>
              </a:ext>
            </a:extLst>
          </p:cNvPr>
          <p:cNvSpPr/>
          <p:nvPr/>
        </p:nvSpPr>
        <p:spPr>
          <a:xfrm>
            <a:off x="604929" y="2606563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0CCB544-E228-34E5-8253-D2B0472E6CEF}"/>
              </a:ext>
            </a:extLst>
          </p:cNvPr>
          <p:cNvSpPr/>
          <p:nvPr/>
        </p:nvSpPr>
        <p:spPr>
          <a:xfrm>
            <a:off x="725680" y="2651572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CF7670E-B791-60B7-BA54-D39F0FAF2092}"/>
              </a:ext>
            </a:extLst>
          </p:cNvPr>
          <p:cNvSpPr/>
          <p:nvPr/>
        </p:nvSpPr>
        <p:spPr>
          <a:xfrm>
            <a:off x="628654" y="2698852"/>
            <a:ext cx="683749" cy="424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782C4CA-0B15-F0BF-11DD-C31D5007C9F0}"/>
              </a:ext>
            </a:extLst>
          </p:cNvPr>
          <p:cNvSpPr/>
          <p:nvPr/>
        </p:nvSpPr>
        <p:spPr>
          <a:xfrm>
            <a:off x="476112" y="1124776"/>
            <a:ext cx="925072" cy="9768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B396E93B-3773-3563-3B4C-21F5EE56707A}"/>
              </a:ext>
            </a:extLst>
          </p:cNvPr>
          <p:cNvSpPr/>
          <p:nvPr/>
        </p:nvSpPr>
        <p:spPr>
          <a:xfrm>
            <a:off x="596774" y="1252190"/>
            <a:ext cx="683749" cy="7220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5603A515-8DE1-A77F-97EC-EFD3D14F1B56}"/>
              </a:ext>
            </a:extLst>
          </p:cNvPr>
          <p:cNvSpPr/>
          <p:nvPr/>
        </p:nvSpPr>
        <p:spPr>
          <a:xfrm>
            <a:off x="657105" y="1315897"/>
            <a:ext cx="563088" cy="59459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2AA0C5BF-5C33-20CB-3DE4-E84499921E46}"/>
              </a:ext>
            </a:extLst>
          </p:cNvPr>
          <p:cNvSpPr/>
          <p:nvPr/>
        </p:nvSpPr>
        <p:spPr>
          <a:xfrm>
            <a:off x="821123" y="1483259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1A9ACF9C-87E7-5AFA-1492-A194ED3D67FA}"/>
              </a:ext>
            </a:extLst>
          </p:cNvPr>
          <p:cNvSpPr/>
          <p:nvPr/>
        </p:nvSpPr>
        <p:spPr>
          <a:xfrm>
            <a:off x="1016636" y="1543479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AB25CE1E-347D-CB07-E42C-F924959BA1E8}"/>
              </a:ext>
            </a:extLst>
          </p:cNvPr>
          <p:cNvSpPr/>
          <p:nvPr/>
        </p:nvSpPr>
        <p:spPr>
          <a:xfrm>
            <a:off x="866932" y="1672970"/>
            <a:ext cx="120662" cy="12741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화살표: 오른쪽으로 구부러짐 92">
            <a:extLst>
              <a:ext uri="{FF2B5EF4-FFF2-40B4-BE49-F238E27FC236}">
                <a16:creationId xmlns:a16="http://schemas.microsoft.com/office/drawing/2014/main" id="{31512387-305A-8C7C-6E9E-EDF0D38966EA}"/>
              </a:ext>
            </a:extLst>
          </p:cNvPr>
          <p:cNvSpPr/>
          <p:nvPr/>
        </p:nvSpPr>
        <p:spPr>
          <a:xfrm>
            <a:off x="529721" y="1417990"/>
            <a:ext cx="180861" cy="413280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화살표: 오른쪽으로 구부러짐 93">
            <a:extLst>
              <a:ext uri="{FF2B5EF4-FFF2-40B4-BE49-F238E27FC236}">
                <a16:creationId xmlns:a16="http://schemas.microsoft.com/office/drawing/2014/main" id="{805ECC15-24A8-F23B-A1AA-5694DDAFCA1A}"/>
              </a:ext>
            </a:extLst>
          </p:cNvPr>
          <p:cNvSpPr/>
          <p:nvPr/>
        </p:nvSpPr>
        <p:spPr>
          <a:xfrm rot="10800000">
            <a:off x="1168211" y="1417988"/>
            <a:ext cx="180861" cy="413280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7378892-F8C1-E778-93D2-758169E37E60}"/>
              </a:ext>
            </a:extLst>
          </p:cNvPr>
          <p:cNvSpPr/>
          <p:nvPr/>
        </p:nvSpPr>
        <p:spPr>
          <a:xfrm rot="21403854" flipV="1">
            <a:off x="350087" y="4012468"/>
            <a:ext cx="225522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D9C93A6-E3A7-8C5C-24BE-A23960D0BD24}"/>
              </a:ext>
            </a:extLst>
          </p:cNvPr>
          <p:cNvSpPr/>
          <p:nvPr/>
        </p:nvSpPr>
        <p:spPr>
          <a:xfrm>
            <a:off x="2562720" y="3948475"/>
            <a:ext cx="54268" cy="36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0D07CC2-8644-6FEE-6AA6-373B65712CB3}"/>
              </a:ext>
            </a:extLst>
          </p:cNvPr>
          <p:cNvSpPr/>
          <p:nvPr/>
        </p:nvSpPr>
        <p:spPr>
          <a:xfrm>
            <a:off x="2630714" y="3924074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FE1DE32-25D0-6B90-789A-12D05CFD0D81}"/>
              </a:ext>
            </a:extLst>
          </p:cNvPr>
          <p:cNvSpPr/>
          <p:nvPr/>
        </p:nvSpPr>
        <p:spPr>
          <a:xfrm>
            <a:off x="3889768" y="3698386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47CBA79-620C-DAD0-D73C-82D4C61E294D}"/>
              </a:ext>
            </a:extLst>
          </p:cNvPr>
          <p:cNvSpPr/>
          <p:nvPr/>
        </p:nvSpPr>
        <p:spPr>
          <a:xfrm>
            <a:off x="4042169" y="3384623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0B8ED6B-3ED3-E744-7E0F-0C972ABA41E0}"/>
              </a:ext>
            </a:extLst>
          </p:cNvPr>
          <p:cNvSpPr/>
          <p:nvPr/>
        </p:nvSpPr>
        <p:spPr>
          <a:xfrm>
            <a:off x="3000551" y="3805032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1AF0F31-30B9-2CA0-417F-913D52326A18}"/>
              </a:ext>
            </a:extLst>
          </p:cNvPr>
          <p:cNvSpPr/>
          <p:nvPr/>
        </p:nvSpPr>
        <p:spPr>
          <a:xfrm>
            <a:off x="3137086" y="3602728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435B09A-2601-2646-3295-E12889E49F13}"/>
              </a:ext>
            </a:extLst>
          </p:cNvPr>
          <p:cNvSpPr/>
          <p:nvPr/>
        </p:nvSpPr>
        <p:spPr>
          <a:xfrm>
            <a:off x="3137086" y="3649373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234E6-8B55-8911-781C-99B4990903F3}"/>
              </a:ext>
            </a:extLst>
          </p:cNvPr>
          <p:cNvSpPr/>
          <p:nvPr/>
        </p:nvSpPr>
        <p:spPr>
          <a:xfrm>
            <a:off x="3137086" y="3700441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C346C5C-6AF5-A821-B6D5-7559BEA37985}"/>
              </a:ext>
            </a:extLst>
          </p:cNvPr>
          <p:cNvSpPr/>
          <p:nvPr/>
        </p:nvSpPr>
        <p:spPr>
          <a:xfrm>
            <a:off x="3137086" y="3751509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D1048D4-4404-8D9F-0647-A3CA796E70CD}"/>
              </a:ext>
            </a:extLst>
          </p:cNvPr>
          <p:cNvSpPr/>
          <p:nvPr/>
        </p:nvSpPr>
        <p:spPr>
          <a:xfrm>
            <a:off x="2543680" y="3712134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DF8DED79-B684-F0FB-0304-C1B86BB6F6ED}"/>
              </a:ext>
            </a:extLst>
          </p:cNvPr>
          <p:cNvSpPr/>
          <p:nvPr/>
        </p:nvSpPr>
        <p:spPr>
          <a:xfrm>
            <a:off x="2696081" y="3397413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416E024-B99F-8A3B-8B2B-AF30DFF61523}"/>
              </a:ext>
            </a:extLst>
          </p:cNvPr>
          <p:cNvSpPr/>
          <p:nvPr/>
        </p:nvSpPr>
        <p:spPr>
          <a:xfrm rot="21434607">
            <a:off x="1670205" y="3853756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4F2CD34-8FFC-B939-1F5D-7804DC3408E2}"/>
              </a:ext>
            </a:extLst>
          </p:cNvPr>
          <p:cNvSpPr/>
          <p:nvPr/>
        </p:nvSpPr>
        <p:spPr>
          <a:xfrm rot="21434607">
            <a:off x="1862314" y="3591837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0A49FCD-F773-F000-3188-57308317D1BA}"/>
              </a:ext>
            </a:extLst>
          </p:cNvPr>
          <p:cNvSpPr/>
          <p:nvPr/>
        </p:nvSpPr>
        <p:spPr>
          <a:xfrm rot="21434607">
            <a:off x="1862314" y="3657532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4E654D7-8F45-3212-10DE-075F3ECA848D}"/>
              </a:ext>
            </a:extLst>
          </p:cNvPr>
          <p:cNvSpPr/>
          <p:nvPr/>
        </p:nvSpPr>
        <p:spPr>
          <a:xfrm rot="21434607">
            <a:off x="1862314" y="3721300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E851510C-3F24-F600-ED82-66D9EC0001C7}"/>
              </a:ext>
            </a:extLst>
          </p:cNvPr>
          <p:cNvSpPr/>
          <p:nvPr/>
        </p:nvSpPr>
        <p:spPr>
          <a:xfrm rot="21434607">
            <a:off x="1862314" y="3791418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37">
            <a:extLst>
              <a:ext uri="{FF2B5EF4-FFF2-40B4-BE49-F238E27FC236}">
                <a16:creationId xmlns:a16="http://schemas.microsoft.com/office/drawing/2014/main" id="{C632A4AB-64BE-4D6F-8BB0-7999E9E7F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256" y="3584091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427BDABF-06BC-3AA3-BAB7-2D25D1A9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0416" y="3761206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1D7F80E-88F6-A4A8-DBC7-3B1369987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968" y="3910689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26" name="Rectangle 37">
            <a:extLst>
              <a:ext uri="{FF2B5EF4-FFF2-40B4-BE49-F238E27FC236}">
                <a16:creationId xmlns:a16="http://schemas.microsoft.com/office/drawing/2014/main" id="{C6608714-48B8-EEEB-026A-5A5D71FE3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755" y="3965796"/>
            <a:ext cx="74377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28" name="Rectangle 37">
            <a:extLst>
              <a:ext uri="{FF2B5EF4-FFF2-40B4-BE49-F238E27FC236}">
                <a16:creationId xmlns:a16="http://schemas.microsoft.com/office/drawing/2014/main" id="{CEA88BBF-3475-F548-84B1-79577F824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667" y="3684047"/>
            <a:ext cx="74377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Pusher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5E0E02C-753A-D2BB-A5F7-F83D71E3D5AC}"/>
              </a:ext>
            </a:extLst>
          </p:cNvPr>
          <p:cNvSpPr/>
          <p:nvPr/>
        </p:nvSpPr>
        <p:spPr>
          <a:xfrm>
            <a:off x="1199784" y="3456340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D5528F5-0FF5-907E-DC67-67A81B36BBE4}"/>
              </a:ext>
            </a:extLst>
          </p:cNvPr>
          <p:cNvSpPr/>
          <p:nvPr/>
        </p:nvSpPr>
        <p:spPr>
          <a:xfrm>
            <a:off x="1352185" y="3141619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FB54792-B5D3-D309-8724-982E0E359641}"/>
              </a:ext>
            </a:extLst>
          </p:cNvPr>
          <p:cNvSpPr/>
          <p:nvPr/>
        </p:nvSpPr>
        <p:spPr>
          <a:xfrm rot="21434607">
            <a:off x="569616" y="3912121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E8D4001-30C9-3FF2-F723-CA0E8D63E712}"/>
              </a:ext>
            </a:extLst>
          </p:cNvPr>
          <p:cNvSpPr/>
          <p:nvPr/>
        </p:nvSpPr>
        <p:spPr>
          <a:xfrm rot="21434607">
            <a:off x="706151" y="3706710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8AB4E4C-C397-0D75-36B3-2DA109524AA2}"/>
              </a:ext>
            </a:extLst>
          </p:cNvPr>
          <p:cNvSpPr/>
          <p:nvPr/>
        </p:nvSpPr>
        <p:spPr>
          <a:xfrm rot="21434607">
            <a:off x="597510" y="3764437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061C7B4F-11F2-6667-76D8-12B6D7ACCD2A}"/>
              </a:ext>
            </a:extLst>
          </p:cNvPr>
          <p:cNvSpPr/>
          <p:nvPr/>
        </p:nvSpPr>
        <p:spPr>
          <a:xfrm rot="21434607">
            <a:off x="706151" y="3810468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5DEA192-A0FA-517B-CD50-FFC29C0D3D8F}"/>
              </a:ext>
            </a:extLst>
          </p:cNvPr>
          <p:cNvSpPr/>
          <p:nvPr/>
        </p:nvSpPr>
        <p:spPr>
          <a:xfrm rot="21434607">
            <a:off x="597807" y="3868964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991624B-6BE5-53E3-CAC6-6B6284EBB51A}"/>
              </a:ext>
            </a:extLst>
          </p:cNvPr>
          <p:cNvSpPr/>
          <p:nvPr/>
        </p:nvSpPr>
        <p:spPr>
          <a:xfrm>
            <a:off x="842653" y="3142060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20D384B-DDCE-9FBB-31C9-75FE54973005}"/>
              </a:ext>
            </a:extLst>
          </p:cNvPr>
          <p:cNvSpPr/>
          <p:nvPr/>
        </p:nvSpPr>
        <p:spPr>
          <a:xfrm>
            <a:off x="930599" y="3142060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2092D9E5-9C6F-52BF-8647-2757F2822D9B}"/>
              </a:ext>
            </a:extLst>
          </p:cNvPr>
          <p:cNvSpPr/>
          <p:nvPr/>
        </p:nvSpPr>
        <p:spPr>
          <a:xfrm>
            <a:off x="1024993" y="3142060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537A74E8-C7FB-0AC7-0843-DBB63795BC6B}"/>
              </a:ext>
            </a:extLst>
          </p:cNvPr>
          <p:cNvCxnSpPr/>
          <p:nvPr/>
        </p:nvCxnSpPr>
        <p:spPr>
          <a:xfrm flipH="1">
            <a:off x="4355976" y="1176178"/>
            <a:ext cx="0" cy="3564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그림 146">
            <a:extLst>
              <a:ext uri="{FF2B5EF4-FFF2-40B4-BE49-F238E27FC236}">
                <a16:creationId xmlns:a16="http://schemas.microsoft.com/office/drawing/2014/main" id="{C814D361-6C33-681A-ED34-1F3E2171E3E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4972" y="15543"/>
            <a:ext cx="1389794" cy="1018480"/>
          </a:xfrm>
          <a:prstGeom prst="rect">
            <a:avLst/>
          </a:prstGeom>
        </p:spPr>
      </p:pic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F160AE5-3A0F-1D16-D008-E49F83CCD2B2}"/>
              </a:ext>
            </a:extLst>
          </p:cNvPr>
          <p:cNvCxnSpPr>
            <a:cxnSpLocks/>
          </p:cNvCxnSpPr>
          <p:nvPr/>
        </p:nvCxnSpPr>
        <p:spPr>
          <a:xfrm flipH="1">
            <a:off x="1424669" y="1623205"/>
            <a:ext cx="200098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4D20004-D697-32B2-4BB3-53F454C5A75A}"/>
              </a:ext>
            </a:extLst>
          </p:cNvPr>
          <p:cNvCxnSpPr>
            <a:cxnSpLocks/>
          </p:cNvCxnSpPr>
          <p:nvPr/>
        </p:nvCxnSpPr>
        <p:spPr>
          <a:xfrm flipH="1">
            <a:off x="2673221" y="1623205"/>
            <a:ext cx="200098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DA99AC4D-ACC8-3B74-2360-3F3DEDA60A42}"/>
              </a:ext>
            </a:extLst>
          </p:cNvPr>
          <p:cNvCxnSpPr>
            <a:cxnSpLocks/>
          </p:cNvCxnSpPr>
          <p:nvPr/>
        </p:nvCxnSpPr>
        <p:spPr>
          <a:xfrm flipH="1">
            <a:off x="1509195" y="2598668"/>
            <a:ext cx="200098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B58DA8C7-D797-9829-5966-41C1E3BC6AA1}"/>
              </a:ext>
            </a:extLst>
          </p:cNvPr>
          <p:cNvCxnSpPr>
            <a:cxnSpLocks/>
          </p:cNvCxnSpPr>
          <p:nvPr/>
        </p:nvCxnSpPr>
        <p:spPr>
          <a:xfrm flipH="1">
            <a:off x="2757747" y="2598668"/>
            <a:ext cx="200098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A0EAB386-3357-0889-62D8-E116ED83F779}"/>
              </a:ext>
            </a:extLst>
          </p:cNvPr>
          <p:cNvCxnSpPr>
            <a:cxnSpLocks/>
          </p:cNvCxnSpPr>
          <p:nvPr/>
        </p:nvCxnSpPr>
        <p:spPr>
          <a:xfrm flipH="1">
            <a:off x="1552043" y="3420521"/>
            <a:ext cx="200098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E1E4624E-2B43-4DE8-5E89-BB4DDAED10A0}"/>
              </a:ext>
            </a:extLst>
          </p:cNvPr>
          <p:cNvCxnSpPr>
            <a:cxnSpLocks/>
          </p:cNvCxnSpPr>
          <p:nvPr/>
        </p:nvCxnSpPr>
        <p:spPr>
          <a:xfrm flipH="1">
            <a:off x="2891279" y="3435846"/>
            <a:ext cx="200098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8E9BC4DE-3ED1-F523-617D-19C9FD874BE5}"/>
              </a:ext>
            </a:extLst>
          </p:cNvPr>
          <p:cNvSpPr/>
          <p:nvPr/>
        </p:nvSpPr>
        <p:spPr>
          <a:xfrm>
            <a:off x="6372200" y="3029292"/>
            <a:ext cx="120705" cy="94707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DCD236ED-2738-9642-8CE8-76209E13959C}"/>
              </a:ext>
            </a:extLst>
          </p:cNvPr>
          <p:cNvSpPr/>
          <p:nvPr/>
        </p:nvSpPr>
        <p:spPr>
          <a:xfrm>
            <a:off x="6575019" y="3029292"/>
            <a:ext cx="120705" cy="94707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884B0D0C-29A8-DA5F-BC62-526873A7DA07}"/>
              </a:ext>
            </a:extLst>
          </p:cNvPr>
          <p:cNvSpPr/>
          <p:nvPr/>
        </p:nvSpPr>
        <p:spPr>
          <a:xfrm>
            <a:off x="6804699" y="3029292"/>
            <a:ext cx="120705" cy="94707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7DEBDAEF-25BA-934D-EBCE-D5228C691230}"/>
              </a:ext>
            </a:extLst>
          </p:cNvPr>
          <p:cNvSpPr/>
          <p:nvPr/>
        </p:nvSpPr>
        <p:spPr>
          <a:xfrm>
            <a:off x="7451970" y="3774311"/>
            <a:ext cx="525970" cy="3536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573FF46D-98AA-3597-4945-740B0ACB29F6}"/>
              </a:ext>
            </a:extLst>
          </p:cNvPr>
          <p:cNvSpPr/>
          <p:nvPr/>
        </p:nvSpPr>
        <p:spPr>
          <a:xfrm>
            <a:off x="7742680" y="3173560"/>
            <a:ext cx="235260" cy="9228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D7DA66E-D938-9437-2641-9DECBB1FC345}"/>
              </a:ext>
            </a:extLst>
          </p:cNvPr>
          <p:cNvSpPr/>
          <p:nvPr/>
        </p:nvSpPr>
        <p:spPr>
          <a:xfrm>
            <a:off x="5813683" y="3978503"/>
            <a:ext cx="1630742" cy="1857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83589EA-A15B-63FE-68D4-9F835749F8B0}"/>
              </a:ext>
            </a:extLst>
          </p:cNvPr>
          <p:cNvSpPr/>
          <p:nvPr/>
        </p:nvSpPr>
        <p:spPr>
          <a:xfrm>
            <a:off x="6117040" y="3591158"/>
            <a:ext cx="1167410" cy="68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46B1F9F-77E2-9A49-2A39-F4EE118DF955}"/>
              </a:ext>
            </a:extLst>
          </p:cNvPr>
          <p:cNvSpPr/>
          <p:nvPr/>
        </p:nvSpPr>
        <p:spPr>
          <a:xfrm>
            <a:off x="6074128" y="3680468"/>
            <a:ext cx="1167410" cy="68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29A61146-9E83-186A-F380-607303EABB1F}"/>
              </a:ext>
            </a:extLst>
          </p:cNvPr>
          <p:cNvSpPr/>
          <p:nvPr/>
        </p:nvSpPr>
        <p:spPr>
          <a:xfrm>
            <a:off x="5990999" y="3778246"/>
            <a:ext cx="1167410" cy="68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0037440-0F1C-B980-C60A-CF9EA728EE5E}"/>
              </a:ext>
            </a:extLst>
          </p:cNvPr>
          <p:cNvSpPr/>
          <p:nvPr/>
        </p:nvSpPr>
        <p:spPr>
          <a:xfrm>
            <a:off x="6094690" y="3876024"/>
            <a:ext cx="1167410" cy="689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37">
            <a:extLst>
              <a:ext uri="{FF2B5EF4-FFF2-40B4-BE49-F238E27FC236}">
                <a16:creationId xmlns:a16="http://schemas.microsoft.com/office/drawing/2014/main" id="{AD3ECAE0-58ED-BBCE-03FE-89C7F35BE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007" y="3894590"/>
            <a:ext cx="859341" cy="353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0" name="자유형: 도형 169">
            <a:extLst>
              <a:ext uri="{FF2B5EF4-FFF2-40B4-BE49-F238E27FC236}">
                <a16:creationId xmlns:a16="http://schemas.microsoft.com/office/drawing/2014/main" id="{701D12A6-7C19-D993-C577-C28FD693B420}"/>
              </a:ext>
            </a:extLst>
          </p:cNvPr>
          <p:cNvSpPr/>
          <p:nvPr/>
        </p:nvSpPr>
        <p:spPr>
          <a:xfrm>
            <a:off x="7509502" y="3748401"/>
            <a:ext cx="46386" cy="426720"/>
          </a:xfrm>
          <a:custGeom>
            <a:avLst/>
            <a:gdLst>
              <a:gd name="csX0" fmla="*/ 7814 w 46386"/>
              <a:gd name="csY0" fmla="*/ 0 h 426720"/>
              <a:gd name="csX1" fmla="*/ 15434 w 46386"/>
              <a:gd name="csY1" fmla="*/ 38100 h 426720"/>
              <a:gd name="csX2" fmla="*/ 23054 w 46386"/>
              <a:gd name="csY2" fmla="*/ 83820 h 426720"/>
              <a:gd name="csX3" fmla="*/ 30674 w 46386"/>
              <a:gd name="csY3" fmla="*/ 114300 h 426720"/>
              <a:gd name="csX4" fmla="*/ 38294 w 46386"/>
              <a:gd name="csY4" fmla="*/ 160020 h 426720"/>
              <a:gd name="csX5" fmla="*/ 15434 w 46386"/>
              <a:gd name="csY5" fmla="*/ 167640 h 426720"/>
              <a:gd name="csX6" fmla="*/ 30674 w 46386"/>
              <a:gd name="csY6" fmla="*/ 228600 h 426720"/>
              <a:gd name="csX7" fmla="*/ 45914 w 46386"/>
              <a:gd name="csY7" fmla="*/ 266700 h 426720"/>
              <a:gd name="csX8" fmla="*/ 15434 w 46386"/>
              <a:gd name="csY8" fmla="*/ 304800 h 426720"/>
              <a:gd name="csX9" fmla="*/ 23054 w 46386"/>
              <a:gd name="csY9" fmla="*/ 335280 h 426720"/>
              <a:gd name="csX10" fmla="*/ 45914 w 46386"/>
              <a:gd name="csY10" fmla="*/ 350520 h 426720"/>
              <a:gd name="csX11" fmla="*/ 23054 w 46386"/>
              <a:gd name="csY11" fmla="*/ 396240 h 426720"/>
              <a:gd name="csX12" fmla="*/ 7814 w 46386"/>
              <a:gd name="csY12" fmla="*/ 426720 h 426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6386" h="426720">
                <a:moveTo>
                  <a:pt x="7814" y="0"/>
                </a:moveTo>
                <a:cubicBezTo>
                  <a:pt x="10354" y="12700"/>
                  <a:pt x="16864" y="25228"/>
                  <a:pt x="15434" y="38100"/>
                </a:cubicBezTo>
                <a:cubicBezTo>
                  <a:pt x="10100" y="86106"/>
                  <a:pt x="-20546" y="54753"/>
                  <a:pt x="23054" y="83820"/>
                </a:cubicBezTo>
                <a:cubicBezTo>
                  <a:pt x="25594" y="93980"/>
                  <a:pt x="32155" y="103933"/>
                  <a:pt x="30674" y="114300"/>
                </a:cubicBezTo>
                <a:cubicBezTo>
                  <a:pt x="24043" y="160714"/>
                  <a:pt x="-8206" y="113520"/>
                  <a:pt x="38294" y="160020"/>
                </a:cubicBezTo>
                <a:cubicBezTo>
                  <a:pt x="30674" y="162560"/>
                  <a:pt x="16321" y="159657"/>
                  <a:pt x="15434" y="167640"/>
                </a:cubicBezTo>
                <a:cubicBezTo>
                  <a:pt x="13121" y="188457"/>
                  <a:pt x="30674" y="228600"/>
                  <a:pt x="30674" y="228600"/>
                </a:cubicBezTo>
                <a:cubicBezTo>
                  <a:pt x="-26868" y="247781"/>
                  <a:pt x="40526" y="218208"/>
                  <a:pt x="45914" y="266700"/>
                </a:cubicBezTo>
                <a:cubicBezTo>
                  <a:pt x="47710" y="282864"/>
                  <a:pt x="25594" y="292100"/>
                  <a:pt x="15434" y="304800"/>
                </a:cubicBezTo>
                <a:cubicBezTo>
                  <a:pt x="17974" y="314960"/>
                  <a:pt x="17245" y="326566"/>
                  <a:pt x="23054" y="335280"/>
                </a:cubicBezTo>
                <a:cubicBezTo>
                  <a:pt x="28134" y="342900"/>
                  <a:pt x="42513" y="342017"/>
                  <a:pt x="45914" y="350520"/>
                </a:cubicBezTo>
                <a:cubicBezTo>
                  <a:pt x="50023" y="360793"/>
                  <a:pt x="26074" y="390955"/>
                  <a:pt x="23054" y="396240"/>
                </a:cubicBezTo>
                <a:cubicBezTo>
                  <a:pt x="17418" y="406103"/>
                  <a:pt x="7814" y="426720"/>
                  <a:pt x="7814" y="42672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자유형: 도형 170">
            <a:extLst>
              <a:ext uri="{FF2B5EF4-FFF2-40B4-BE49-F238E27FC236}">
                <a16:creationId xmlns:a16="http://schemas.microsoft.com/office/drawing/2014/main" id="{EA14A95D-2793-13A0-D719-B7E3E918DE35}"/>
              </a:ext>
            </a:extLst>
          </p:cNvPr>
          <p:cNvSpPr/>
          <p:nvPr/>
        </p:nvSpPr>
        <p:spPr>
          <a:xfrm>
            <a:off x="7596336" y="3753619"/>
            <a:ext cx="46386" cy="426720"/>
          </a:xfrm>
          <a:custGeom>
            <a:avLst/>
            <a:gdLst>
              <a:gd name="csX0" fmla="*/ 7814 w 46386"/>
              <a:gd name="csY0" fmla="*/ 0 h 426720"/>
              <a:gd name="csX1" fmla="*/ 15434 w 46386"/>
              <a:gd name="csY1" fmla="*/ 38100 h 426720"/>
              <a:gd name="csX2" fmla="*/ 23054 w 46386"/>
              <a:gd name="csY2" fmla="*/ 83820 h 426720"/>
              <a:gd name="csX3" fmla="*/ 30674 w 46386"/>
              <a:gd name="csY3" fmla="*/ 114300 h 426720"/>
              <a:gd name="csX4" fmla="*/ 38294 w 46386"/>
              <a:gd name="csY4" fmla="*/ 160020 h 426720"/>
              <a:gd name="csX5" fmla="*/ 15434 w 46386"/>
              <a:gd name="csY5" fmla="*/ 167640 h 426720"/>
              <a:gd name="csX6" fmla="*/ 30674 w 46386"/>
              <a:gd name="csY6" fmla="*/ 228600 h 426720"/>
              <a:gd name="csX7" fmla="*/ 45914 w 46386"/>
              <a:gd name="csY7" fmla="*/ 266700 h 426720"/>
              <a:gd name="csX8" fmla="*/ 15434 w 46386"/>
              <a:gd name="csY8" fmla="*/ 304800 h 426720"/>
              <a:gd name="csX9" fmla="*/ 23054 w 46386"/>
              <a:gd name="csY9" fmla="*/ 335280 h 426720"/>
              <a:gd name="csX10" fmla="*/ 45914 w 46386"/>
              <a:gd name="csY10" fmla="*/ 350520 h 426720"/>
              <a:gd name="csX11" fmla="*/ 23054 w 46386"/>
              <a:gd name="csY11" fmla="*/ 396240 h 426720"/>
              <a:gd name="csX12" fmla="*/ 7814 w 46386"/>
              <a:gd name="csY12" fmla="*/ 426720 h 426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6386" h="426720">
                <a:moveTo>
                  <a:pt x="7814" y="0"/>
                </a:moveTo>
                <a:cubicBezTo>
                  <a:pt x="10354" y="12700"/>
                  <a:pt x="16864" y="25228"/>
                  <a:pt x="15434" y="38100"/>
                </a:cubicBezTo>
                <a:cubicBezTo>
                  <a:pt x="10100" y="86106"/>
                  <a:pt x="-20546" y="54753"/>
                  <a:pt x="23054" y="83820"/>
                </a:cubicBezTo>
                <a:cubicBezTo>
                  <a:pt x="25594" y="93980"/>
                  <a:pt x="32155" y="103933"/>
                  <a:pt x="30674" y="114300"/>
                </a:cubicBezTo>
                <a:cubicBezTo>
                  <a:pt x="24043" y="160714"/>
                  <a:pt x="-8206" y="113520"/>
                  <a:pt x="38294" y="160020"/>
                </a:cubicBezTo>
                <a:cubicBezTo>
                  <a:pt x="30674" y="162560"/>
                  <a:pt x="16321" y="159657"/>
                  <a:pt x="15434" y="167640"/>
                </a:cubicBezTo>
                <a:cubicBezTo>
                  <a:pt x="13121" y="188457"/>
                  <a:pt x="30674" y="228600"/>
                  <a:pt x="30674" y="228600"/>
                </a:cubicBezTo>
                <a:cubicBezTo>
                  <a:pt x="-26868" y="247781"/>
                  <a:pt x="40526" y="218208"/>
                  <a:pt x="45914" y="266700"/>
                </a:cubicBezTo>
                <a:cubicBezTo>
                  <a:pt x="47710" y="282864"/>
                  <a:pt x="25594" y="292100"/>
                  <a:pt x="15434" y="304800"/>
                </a:cubicBezTo>
                <a:cubicBezTo>
                  <a:pt x="17974" y="314960"/>
                  <a:pt x="17245" y="326566"/>
                  <a:pt x="23054" y="335280"/>
                </a:cubicBezTo>
                <a:cubicBezTo>
                  <a:pt x="28134" y="342900"/>
                  <a:pt x="42513" y="342017"/>
                  <a:pt x="45914" y="350520"/>
                </a:cubicBezTo>
                <a:cubicBezTo>
                  <a:pt x="50023" y="360793"/>
                  <a:pt x="26074" y="390955"/>
                  <a:pt x="23054" y="396240"/>
                </a:cubicBezTo>
                <a:cubicBezTo>
                  <a:pt x="17418" y="406103"/>
                  <a:pt x="7814" y="426720"/>
                  <a:pt x="7814" y="42672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자유형: 도형 171">
            <a:extLst>
              <a:ext uri="{FF2B5EF4-FFF2-40B4-BE49-F238E27FC236}">
                <a16:creationId xmlns:a16="http://schemas.microsoft.com/office/drawing/2014/main" id="{D2C177F3-A991-B849-7CA1-920BD6315DC2}"/>
              </a:ext>
            </a:extLst>
          </p:cNvPr>
          <p:cNvSpPr/>
          <p:nvPr/>
        </p:nvSpPr>
        <p:spPr>
          <a:xfrm rot="5400000">
            <a:off x="6717181" y="3867852"/>
            <a:ext cx="46386" cy="426720"/>
          </a:xfrm>
          <a:custGeom>
            <a:avLst/>
            <a:gdLst>
              <a:gd name="csX0" fmla="*/ 7814 w 46386"/>
              <a:gd name="csY0" fmla="*/ 0 h 426720"/>
              <a:gd name="csX1" fmla="*/ 15434 w 46386"/>
              <a:gd name="csY1" fmla="*/ 38100 h 426720"/>
              <a:gd name="csX2" fmla="*/ 23054 w 46386"/>
              <a:gd name="csY2" fmla="*/ 83820 h 426720"/>
              <a:gd name="csX3" fmla="*/ 30674 w 46386"/>
              <a:gd name="csY3" fmla="*/ 114300 h 426720"/>
              <a:gd name="csX4" fmla="*/ 38294 w 46386"/>
              <a:gd name="csY4" fmla="*/ 160020 h 426720"/>
              <a:gd name="csX5" fmla="*/ 15434 w 46386"/>
              <a:gd name="csY5" fmla="*/ 167640 h 426720"/>
              <a:gd name="csX6" fmla="*/ 30674 w 46386"/>
              <a:gd name="csY6" fmla="*/ 228600 h 426720"/>
              <a:gd name="csX7" fmla="*/ 45914 w 46386"/>
              <a:gd name="csY7" fmla="*/ 266700 h 426720"/>
              <a:gd name="csX8" fmla="*/ 15434 w 46386"/>
              <a:gd name="csY8" fmla="*/ 304800 h 426720"/>
              <a:gd name="csX9" fmla="*/ 23054 w 46386"/>
              <a:gd name="csY9" fmla="*/ 335280 h 426720"/>
              <a:gd name="csX10" fmla="*/ 45914 w 46386"/>
              <a:gd name="csY10" fmla="*/ 350520 h 426720"/>
              <a:gd name="csX11" fmla="*/ 23054 w 46386"/>
              <a:gd name="csY11" fmla="*/ 396240 h 426720"/>
              <a:gd name="csX12" fmla="*/ 7814 w 46386"/>
              <a:gd name="csY12" fmla="*/ 426720 h 426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6386" h="426720">
                <a:moveTo>
                  <a:pt x="7814" y="0"/>
                </a:moveTo>
                <a:cubicBezTo>
                  <a:pt x="10354" y="12700"/>
                  <a:pt x="16864" y="25228"/>
                  <a:pt x="15434" y="38100"/>
                </a:cubicBezTo>
                <a:cubicBezTo>
                  <a:pt x="10100" y="86106"/>
                  <a:pt x="-20546" y="54753"/>
                  <a:pt x="23054" y="83820"/>
                </a:cubicBezTo>
                <a:cubicBezTo>
                  <a:pt x="25594" y="93980"/>
                  <a:pt x="32155" y="103933"/>
                  <a:pt x="30674" y="114300"/>
                </a:cubicBezTo>
                <a:cubicBezTo>
                  <a:pt x="24043" y="160714"/>
                  <a:pt x="-8206" y="113520"/>
                  <a:pt x="38294" y="160020"/>
                </a:cubicBezTo>
                <a:cubicBezTo>
                  <a:pt x="30674" y="162560"/>
                  <a:pt x="16321" y="159657"/>
                  <a:pt x="15434" y="167640"/>
                </a:cubicBezTo>
                <a:cubicBezTo>
                  <a:pt x="13121" y="188457"/>
                  <a:pt x="30674" y="228600"/>
                  <a:pt x="30674" y="228600"/>
                </a:cubicBezTo>
                <a:cubicBezTo>
                  <a:pt x="-26868" y="247781"/>
                  <a:pt x="40526" y="218208"/>
                  <a:pt x="45914" y="266700"/>
                </a:cubicBezTo>
                <a:cubicBezTo>
                  <a:pt x="47710" y="282864"/>
                  <a:pt x="25594" y="292100"/>
                  <a:pt x="15434" y="304800"/>
                </a:cubicBezTo>
                <a:cubicBezTo>
                  <a:pt x="17974" y="314960"/>
                  <a:pt x="17245" y="326566"/>
                  <a:pt x="23054" y="335280"/>
                </a:cubicBezTo>
                <a:cubicBezTo>
                  <a:pt x="28134" y="342900"/>
                  <a:pt x="42513" y="342017"/>
                  <a:pt x="45914" y="350520"/>
                </a:cubicBezTo>
                <a:cubicBezTo>
                  <a:pt x="50023" y="360793"/>
                  <a:pt x="26074" y="390955"/>
                  <a:pt x="23054" y="396240"/>
                </a:cubicBezTo>
                <a:cubicBezTo>
                  <a:pt x="17418" y="406103"/>
                  <a:pt x="7814" y="426720"/>
                  <a:pt x="7814" y="42672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37">
            <a:extLst>
              <a:ext uri="{FF2B5EF4-FFF2-40B4-BE49-F238E27FC236}">
                <a16:creationId xmlns:a16="http://schemas.microsoft.com/office/drawing/2014/main" id="{DBF7BA02-B595-BF1D-ACA8-26AF917BA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328187"/>
            <a:ext cx="3811125" cy="27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3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점 정렬 실린더 수축 이완 시 마찰력에 의한 제품 틀어짐 발생</a:t>
            </a:r>
            <a:endParaRPr lang="ko-KR" altLang="en-US" sz="8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74" name="Rectangle 37">
            <a:extLst>
              <a:ext uri="{FF2B5EF4-FFF2-40B4-BE49-F238E27FC236}">
                <a16:creationId xmlns:a16="http://schemas.microsoft.com/office/drawing/2014/main" id="{E8130B90-7447-7359-C745-CFF87D21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4275504"/>
            <a:ext cx="4536504" cy="27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3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점 정렬 실린더 수출 후 이동 시 설비 진동에 의한 제품 틀어짐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(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볼피더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진동처럼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)</a:t>
            </a:r>
            <a:endParaRPr lang="ko-KR" altLang="en-US" sz="8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7E5FD3D5-A311-BA0C-12B6-29EECD079BB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84025" y="26029"/>
            <a:ext cx="1239719" cy="1012229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883D0DC9-77A1-85D8-AB3C-06DAB32AC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767" y="1205479"/>
            <a:ext cx="3252304" cy="1706905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62F52C43-48D6-F4D7-118F-83120F7D234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4088" y="24645"/>
            <a:ext cx="1068742" cy="100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8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2B4C312-8393-9442-F22F-B05B7B8E306A}"/>
              </a:ext>
            </a:extLst>
          </p:cNvPr>
          <p:cNvSpPr/>
          <p:nvPr/>
        </p:nvSpPr>
        <p:spPr>
          <a:xfrm>
            <a:off x="5256390" y="204872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FDA9358-8588-C159-EA0B-79735FC73C94}"/>
              </a:ext>
            </a:extLst>
          </p:cNvPr>
          <p:cNvSpPr/>
          <p:nvPr/>
        </p:nvSpPr>
        <p:spPr>
          <a:xfrm>
            <a:off x="5376690" y="204872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A63E6A7-FBA4-A766-27C3-FC3A2E3FFC59}"/>
              </a:ext>
            </a:extLst>
          </p:cNvPr>
          <p:cNvSpPr/>
          <p:nvPr/>
        </p:nvSpPr>
        <p:spPr>
          <a:xfrm>
            <a:off x="5475181" y="204872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E243F-8A29-F825-0913-F2A7C84E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6" name="文本占位符 58">
            <a:extLst>
              <a:ext uri="{FF2B5EF4-FFF2-40B4-BE49-F238E27FC236}">
                <a16:creationId xmlns:a16="http://schemas.microsoft.com/office/drawing/2014/main" id="{AEB5C30F-9B26-39D1-B7ED-2847C9196D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36312" y="367545"/>
            <a:ext cx="5983758" cy="32919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원인 분석</a:t>
            </a:r>
            <a:endParaRPr lang="zh-CN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37">
            <a:extLst>
              <a:ext uri="{FF2B5EF4-FFF2-40B4-BE49-F238E27FC236}">
                <a16:creationId xmlns:a16="http://schemas.microsoft.com/office/drawing/2014/main" id="{D6BD1215-43F5-27A2-4D47-A98190F3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86757"/>
            <a:ext cx="49809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2.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제품 깨짐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8E99EC-B526-5690-73AB-4673E9661B8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40353" y="15544"/>
            <a:ext cx="1389794" cy="1018480"/>
          </a:xfrm>
          <a:prstGeom prst="rect">
            <a:avLst/>
          </a:prstGeom>
        </p:spPr>
      </p:pic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0D07CC2-8644-6FEE-6AA6-373B65712CB3}"/>
              </a:ext>
            </a:extLst>
          </p:cNvPr>
          <p:cNvSpPr/>
          <p:nvPr/>
        </p:nvSpPr>
        <p:spPr>
          <a:xfrm>
            <a:off x="4813732" y="2884213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FE1DE32-25D0-6B90-789A-12D05CFD0D81}"/>
              </a:ext>
            </a:extLst>
          </p:cNvPr>
          <p:cNvSpPr/>
          <p:nvPr/>
        </p:nvSpPr>
        <p:spPr>
          <a:xfrm>
            <a:off x="5866786" y="2347824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47CBA79-620C-DAD0-D73C-82D4C61E294D}"/>
              </a:ext>
            </a:extLst>
          </p:cNvPr>
          <p:cNvSpPr/>
          <p:nvPr/>
        </p:nvSpPr>
        <p:spPr>
          <a:xfrm>
            <a:off x="6019187" y="2034061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0B8ED6B-3ED3-E744-7E0F-0C972ABA41E0}"/>
              </a:ext>
            </a:extLst>
          </p:cNvPr>
          <p:cNvSpPr/>
          <p:nvPr/>
        </p:nvSpPr>
        <p:spPr>
          <a:xfrm>
            <a:off x="4977569" y="2763730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1AF0F31-30B9-2CA0-417F-913D52326A18}"/>
              </a:ext>
            </a:extLst>
          </p:cNvPr>
          <p:cNvSpPr/>
          <p:nvPr/>
        </p:nvSpPr>
        <p:spPr>
          <a:xfrm>
            <a:off x="5120787" y="2538383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435B09A-2601-2646-3295-E12889E49F13}"/>
              </a:ext>
            </a:extLst>
          </p:cNvPr>
          <p:cNvSpPr/>
          <p:nvPr/>
        </p:nvSpPr>
        <p:spPr>
          <a:xfrm>
            <a:off x="5021844" y="2608071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234E6-8B55-8911-781C-99B4990903F3}"/>
              </a:ext>
            </a:extLst>
          </p:cNvPr>
          <p:cNvSpPr/>
          <p:nvPr/>
        </p:nvSpPr>
        <p:spPr>
          <a:xfrm>
            <a:off x="5131265" y="2659139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C346C5C-6AF5-A821-B6D5-7559BEA37985}"/>
              </a:ext>
            </a:extLst>
          </p:cNvPr>
          <p:cNvSpPr/>
          <p:nvPr/>
        </p:nvSpPr>
        <p:spPr>
          <a:xfrm>
            <a:off x="5021844" y="2710207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37">
            <a:extLst>
              <a:ext uri="{FF2B5EF4-FFF2-40B4-BE49-F238E27FC236}">
                <a16:creationId xmlns:a16="http://schemas.microsoft.com/office/drawing/2014/main" id="{C632A4AB-64BE-4D6F-8BB0-7999E9E7F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274" y="2542789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427BDABF-06BC-3AA3-BAB7-2D25D1A9D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434" y="2719904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1D7F80E-88F6-A4A8-DBC7-3B1369987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986" y="2870828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537A74E8-C7FB-0AC7-0843-DBB63795BC6B}"/>
              </a:ext>
            </a:extLst>
          </p:cNvPr>
          <p:cNvCxnSpPr/>
          <p:nvPr/>
        </p:nvCxnSpPr>
        <p:spPr>
          <a:xfrm flipH="1">
            <a:off x="4355976" y="1176178"/>
            <a:ext cx="0" cy="3564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그림 146">
            <a:extLst>
              <a:ext uri="{FF2B5EF4-FFF2-40B4-BE49-F238E27FC236}">
                <a16:creationId xmlns:a16="http://schemas.microsoft.com/office/drawing/2014/main" id="{C814D361-6C33-681A-ED34-1F3E2171E3E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0192" y="15543"/>
            <a:ext cx="1389794" cy="1018480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9B5ABA58-BADE-9207-CF2E-805B3149AD7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35034" y="15544"/>
            <a:ext cx="982229" cy="1018480"/>
          </a:xfrm>
          <a:prstGeom prst="rect">
            <a:avLst/>
          </a:prstGeom>
        </p:spPr>
      </p:pic>
      <p:sp>
        <p:nvSpPr>
          <p:cNvPr id="173" name="Rectangle 37">
            <a:extLst>
              <a:ext uri="{FF2B5EF4-FFF2-40B4-BE49-F238E27FC236}">
                <a16:creationId xmlns:a16="http://schemas.microsoft.com/office/drawing/2014/main" id="{DBF7BA02-B595-BF1D-ACA8-26AF917BA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985228"/>
            <a:ext cx="381112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</a:rPr>
              <a:t>제품 이송 시 틀어짐</a:t>
            </a:r>
          </a:p>
        </p:txBody>
      </p:sp>
      <p:sp>
        <p:nvSpPr>
          <p:cNvPr id="174" name="Rectangle 37">
            <a:extLst>
              <a:ext uri="{FF2B5EF4-FFF2-40B4-BE49-F238E27FC236}">
                <a16:creationId xmlns:a16="http://schemas.microsoft.com/office/drawing/2014/main" id="{E8130B90-7447-7359-C745-CFF87D21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3985228"/>
            <a:ext cx="453650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Mullite Pusher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하강 시 제품과 충돌</a:t>
            </a:r>
            <a:endParaRPr lang="ko-KR" altLang="en-US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BD8301-79B4-26CF-887A-B9980634B8F7}"/>
              </a:ext>
            </a:extLst>
          </p:cNvPr>
          <p:cNvSpPr/>
          <p:nvPr/>
        </p:nvSpPr>
        <p:spPr>
          <a:xfrm>
            <a:off x="7392382" y="187844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371B8B-1F3F-5EE9-5936-5F50C9ADDC5E}"/>
              </a:ext>
            </a:extLst>
          </p:cNvPr>
          <p:cNvSpPr/>
          <p:nvPr/>
        </p:nvSpPr>
        <p:spPr>
          <a:xfrm>
            <a:off x="7512682" y="187844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83C63C-40BE-CA4A-171D-D9251F8A5F3D}"/>
              </a:ext>
            </a:extLst>
          </p:cNvPr>
          <p:cNvSpPr/>
          <p:nvPr/>
        </p:nvSpPr>
        <p:spPr>
          <a:xfrm>
            <a:off x="7611173" y="1878441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A66B6C-9A25-8961-CC52-F6A6FE2F1291}"/>
              </a:ext>
            </a:extLst>
          </p:cNvPr>
          <p:cNvSpPr/>
          <p:nvPr/>
        </p:nvSpPr>
        <p:spPr>
          <a:xfrm>
            <a:off x="6949724" y="2888671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94946E-AEEB-9D2F-AED0-B28DED1E18FA}"/>
              </a:ext>
            </a:extLst>
          </p:cNvPr>
          <p:cNvSpPr/>
          <p:nvPr/>
        </p:nvSpPr>
        <p:spPr>
          <a:xfrm>
            <a:off x="8002778" y="2177544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747743-FA97-CAEA-5B8E-FE9A85FA19FA}"/>
              </a:ext>
            </a:extLst>
          </p:cNvPr>
          <p:cNvSpPr/>
          <p:nvPr/>
        </p:nvSpPr>
        <p:spPr>
          <a:xfrm>
            <a:off x="8155179" y="1863781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2CF29E-99E6-8F7C-179E-BB2E5934676B}"/>
              </a:ext>
            </a:extLst>
          </p:cNvPr>
          <p:cNvSpPr/>
          <p:nvPr/>
        </p:nvSpPr>
        <p:spPr>
          <a:xfrm>
            <a:off x="7113561" y="2768188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692826-B25F-EA89-0805-1B7E8378487C}"/>
              </a:ext>
            </a:extLst>
          </p:cNvPr>
          <p:cNvSpPr/>
          <p:nvPr/>
        </p:nvSpPr>
        <p:spPr>
          <a:xfrm>
            <a:off x="7241539" y="2542841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CBFD18-3F82-3CB2-65DF-EBFBE1A2D86A}"/>
              </a:ext>
            </a:extLst>
          </p:cNvPr>
          <p:cNvSpPr/>
          <p:nvPr/>
        </p:nvSpPr>
        <p:spPr>
          <a:xfrm>
            <a:off x="7157836" y="2612529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3B7778-C49F-62AD-36F7-A35778379196}"/>
              </a:ext>
            </a:extLst>
          </p:cNvPr>
          <p:cNvSpPr/>
          <p:nvPr/>
        </p:nvSpPr>
        <p:spPr>
          <a:xfrm>
            <a:off x="7267257" y="2663597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6C07DA-F84D-BF02-7DFF-2D32170FA3EE}"/>
              </a:ext>
            </a:extLst>
          </p:cNvPr>
          <p:cNvSpPr/>
          <p:nvPr/>
        </p:nvSpPr>
        <p:spPr>
          <a:xfrm>
            <a:off x="7157836" y="2714665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37">
            <a:extLst>
              <a:ext uri="{FF2B5EF4-FFF2-40B4-BE49-F238E27FC236}">
                <a16:creationId xmlns:a16="http://schemas.microsoft.com/office/drawing/2014/main" id="{C0366FDE-1AE4-3123-AC0E-71D2231ED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6266" y="2547247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20" name="Rectangle 37">
            <a:extLst>
              <a:ext uri="{FF2B5EF4-FFF2-40B4-BE49-F238E27FC236}">
                <a16:creationId xmlns:a16="http://schemas.microsoft.com/office/drawing/2014/main" id="{1E66595E-1957-163A-11E4-6635FBDAB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426" y="2724362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Rectangle 37">
            <a:extLst>
              <a:ext uri="{FF2B5EF4-FFF2-40B4-BE49-F238E27FC236}">
                <a16:creationId xmlns:a16="http://schemas.microsoft.com/office/drawing/2014/main" id="{E39E8794-FF57-3830-D83D-5B4A214E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978" y="2875286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23" name="폭발: 14pt 22">
            <a:extLst>
              <a:ext uri="{FF2B5EF4-FFF2-40B4-BE49-F238E27FC236}">
                <a16:creationId xmlns:a16="http://schemas.microsoft.com/office/drawing/2014/main" id="{8D75E6EA-A32D-8A90-31EC-A895DDE96283}"/>
              </a:ext>
            </a:extLst>
          </p:cNvPr>
          <p:cNvSpPr/>
          <p:nvPr/>
        </p:nvSpPr>
        <p:spPr>
          <a:xfrm>
            <a:off x="5720246" y="2426329"/>
            <a:ext cx="323644" cy="237268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87957A2-DC8C-BAB4-FAC2-440F6C375451}"/>
              </a:ext>
            </a:extLst>
          </p:cNvPr>
          <p:cNvCxnSpPr>
            <a:cxnSpLocks/>
          </p:cNvCxnSpPr>
          <p:nvPr/>
        </p:nvCxnSpPr>
        <p:spPr>
          <a:xfrm flipH="1">
            <a:off x="6418054" y="2608071"/>
            <a:ext cx="324000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E2A078D6-F816-32C0-137C-8C5BC01D9E6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90967" y="1749973"/>
            <a:ext cx="2154029" cy="1422160"/>
          </a:xfrm>
          <a:prstGeom prst="rect">
            <a:avLst/>
          </a:prstGeom>
        </p:spPr>
      </p:pic>
      <p:sp>
        <p:nvSpPr>
          <p:cNvPr id="31" name="TextBox 28">
            <a:extLst>
              <a:ext uri="{FF2B5EF4-FFF2-40B4-BE49-F238E27FC236}">
                <a16:creationId xmlns:a16="http://schemas.microsoft.com/office/drawing/2014/main" id="{1E356A93-5227-4D1F-EFD5-94706541CB85}"/>
              </a:ext>
            </a:extLst>
          </p:cNvPr>
          <p:cNvSpPr txBox="1"/>
          <p:nvPr/>
        </p:nvSpPr>
        <p:spPr>
          <a:xfrm>
            <a:off x="2100305" y="1845756"/>
            <a:ext cx="2210862" cy="230832"/>
          </a:xfrm>
          <a:prstGeom prst="rect">
            <a:avLst/>
          </a:prstGeom>
          <a:solidFill>
            <a:srgbClr val="FFFF0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/>
              <a:t>전구간 </a:t>
            </a:r>
            <a:r>
              <a:rPr lang="ko-KR" altLang="en-US" sz="900" dirty="0" err="1"/>
              <a:t>어큘</a:t>
            </a:r>
            <a:r>
              <a:rPr lang="ko-KR" altLang="en-US" sz="900" dirty="0"/>
              <a:t> 롤러 노후 점검 및 교체</a:t>
            </a:r>
            <a:r>
              <a:rPr lang="ko-KR" altLang="en-US" sz="900" baseline="0" dirty="0"/>
              <a:t> 필요</a:t>
            </a:r>
            <a:endParaRPr lang="en-US" sz="90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D8C330A-3080-4862-0D63-E774786CF2EA}"/>
              </a:ext>
            </a:extLst>
          </p:cNvPr>
          <p:cNvCxnSpPr/>
          <p:nvPr/>
        </p:nvCxnSpPr>
        <p:spPr>
          <a:xfrm flipH="1">
            <a:off x="3801007" y="2559520"/>
            <a:ext cx="105336" cy="3541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783BC290-06D2-4704-5ABE-78C49D25933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600" y="1749974"/>
            <a:ext cx="1795309" cy="1422160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2AB1E37-61A5-9BE6-C100-03A8EB9FB0DD}"/>
              </a:ext>
            </a:extLst>
          </p:cNvPr>
          <p:cNvCxnSpPr>
            <a:cxnSpLocks/>
          </p:cNvCxnSpPr>
          <p:nvPr/>
        </p:nvCxnSpPr>
        <p:spPr>
          <a:xfrm>
            <a:off x="1262602" y="2547857"/>
            <a:ext cx="12564" cy="55487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22">
            <a:extLst>
              <a:ext uri="{FF2B5EF4-FFF2-40B4-BE49-F238E27FC236}">
                <a16:creationId xmlns:a16="http://schemas.microsoft.com/office/drawing/2014/main" id="{58909253-5AC1-D244-5160-8D85F498BE90}"/>
              </a:ext>
            </a:extLst>
          </p:cNvPr>
          <p:cNvSpPr txBox="1"/>
          <p:nvPr/>
        </p:nvSpPr>
        <p:spPr>
          <a:xfrm>
            <a:off x="323858" y="2634437"/>
            <a:ext cx="947695" cy="338554"/>
          </a:xfrm>
          <a:prstGeom prst="rect">
            <a:avLst/>
          </a:prstGeom>
          <a:solidFill>
            <a:srgbClr val="FFFF0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실린더 노후로 </a:t>
            </a:r>
            <a:endParaRPr lang="en-US" altLang="ko-KR" sz="800" dirty="0"/>
          </a:p>
          <a:p>
            <a:r>
              <a:rPr lang="ko-KR" altLang="en-US" sz="800" dirty="0"/>
              <a:t>비정상 작동 충격</a:t>
            </a:r>
            <a:endParaRPr lang="en-US" sz="8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75FE570-C50E-8A23-0F71-DDE6D8C75D5E}"/>
              </a:ext>
            </a:extLst>
          </p:cNvPr>
          <p:cNvCxnSpPr/>
          <p:nvPr/>
        </p:nvCxnSpPr>
        <p:spPr>
          <a:xfrm flipH="1">
            <a:off x="3131459" y="2569217"/>
            <a:ext cx="105336" cy="3541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E8C7F74-F309-DCC9-936A-60CAF0E4102D}"/>
              </a:ext>
            </a:extLst>
          </p:cNvPr>
          <p:cNvCxnSpPr>
            <a:cxnSpLocks/>
          </p:cNvCxnSpPr>
          <p:nvPr/>
        </p:nvCxnSpPr>
        <p:spPr>
          <a:xfrm flipH="1">
            <a:off x="2797987" y="2131141"/>
            <a:ext cx="81179" cy="1277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EF84F14-742D-4612-5103-64B36A178C39}"/>
              </a:ext>
            </a:extLst>
          </p:cNvPr>
          <p:cNvCxnSpPr>
            <a:cxnSpLocks/>
          </p:cNvCxnSpPr>
          <p:nvPr/>
        </p:nvCxnSpPr>
        <p:spPr>
          <a:xfrm flipH="1">
            <a:off x="2335646" y="2190282"/>
            <a:ext cx="81179" cy="1277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573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E243F-8A29-F825-0913-F2A7C84E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6" name="文本占位符 58">
            <a:extLst>
              <a:ext uri="{FF2B5EF4-FFF2-40B4-BE49-F238E27FC236}">
                <a16:creationId xmlns:a16="http://schemas.microsoft.com/office/drawing/2014/main" id="{AEB5C30F-9B26-39D1-B7ED-2847C9196D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36312" y="367545"/>
            <a:ext cx="5983758" cy="32919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원인 분석</a:t>
            </a:r>
            <a:endParaRPr lang="zh-CN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37">
            <a:extLst>
              <a:ext uri="{FF2B5EF4-FFF2-40B4-BE49-F238E27FC236}">
                <a16:creationId xmlns:a16="http://schemas.microsoft.com/office/drawing/2014/main" id="{D6BD1215-43F5-27A2-4D47-A98190F3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86757"/>
            <a:ext cx="49809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3.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소결로 내 제품 엉킴 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48" name="Rectangle 37">
            <a:extLst>
              <a:ext uri="{FF2B5EF4-FFF2-40B4-BE49-F238E27FC236}">
                <a16:creationId xmlns:a16="http://schemas.microsoft.com/office/drawing/2014/main" id="{23BF0E12-B9F1-94F1-23CE-2436914D0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1215227"/>
            <a:ext cx="5218611" cy="3389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Mullite Pusher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와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사이 공간 발생으로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Mullite &amp;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 빠짐</a:t>
            </a:r>
          </a:p>
          <a:p>
            <a:pPr>
              <a:lnSpc>
                <a:spcPct val="150000"/>
              </a:lnSpc>
            </a:pP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→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처짐에 의한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Pusher &amp; 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사이 공간 발생</a:t>
            </a:r>
          </a:p>
          <a:p>
            <a:pPr>
              <a:lnSpc>
                <a:spcPct val="150000"/>
              </a:lnSpc>
            </a:pP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→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Belt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상태에 따라서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쳐짐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수준이 수시로 변경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(A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급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Belt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에서 현상이 발생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→ 자동화 높이 셋팅을 진행하지만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Belt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구간별 높이차로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최적화 셋팅이 어려움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 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→ 높이 셋팅이 과도하면 자동화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이음부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롤러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단턱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발생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셋팅이 제한적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</a:t>
            </a:r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▶ 센서 추가 </a:t>
            </a: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PLC </a:t>
            </a:r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수정 완료 </a:t>
            </a: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(4/30)</a:t>
            </a:r>
          </a:p>
          <a:p>
            <a:pPr>
              <a:lnSpc>
                <a:spcPct val="150000"/>
              </a:lnSpc>
            </a:pP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2. Mullite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두께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10~12T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혼입 사용 중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, Mullite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두께가 얇으면 악영향</a:t>
            </a:r>
          </a:p>
          <a:p>
            <a:pPr>
              <a:lnSpc>
                <a:spcPct val="150000"/>
              </a:lnSpc>
            </a:pP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→ 두께가 얇고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엣지가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마모된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일부 확인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→ 에너지 절감을 위해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10T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제작 이력 있음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파손 문제로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12T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원복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</a:t>
            </a:r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▶ </a:t>
            </a: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12T Mullite </a:t>
            </a:r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적용 </a:t>
            </a: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(4/30)</a:t>
            </a:r>
          </a:p>
          <a:p>
            <a:pPr>
              <a:lnSpc>
                <a:spcPct val="150000"/>
              </a:lnSpc>
            </a:pP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3. 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고정 지지대가 쳐질 수 있는 구조로 확인 </a:t>
            </a:r>
          </a:p>
          <a:p>
            <a:pPr>
              <a:lnSpc>
                <a:spcPct val="150000"/>
              </a:lnSpc>
            </a:pP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→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고정 지지대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2T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철판으로 무게로 인해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쳐짐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확인</a:t>
            </a:r>
          </a:p>
          <a:p>
            <a:pPr>
              <a:lnSpc>
                <a:spcPct val="150000"/>
              </a:lnSpc>
            </a:pP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초기 설계 시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Belt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에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앞부분이 밀착되게 설계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  </a:t>
            </a:r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▶ </a:t>
            </a: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 </a:t>
            </a:r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완료 </a:t>
            </a:r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(7/16)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D54497-27BB-9E76-BA00-C83D229DF103}"/>
              </a:ext>
            </a:extLst>
          </p:cNvPr>
          <p:cNvSpPr/>
          <p:nvPr/>
        </p:nvSpPr>
        <p:spPr>
          <a:xfrm rot="21162213" flipV="1">
            <a:off x="830024" y="3743807"/>
            <a:ext cx="183328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순서도: 지연 7">
            <a:extLst>
              <a:ext uri="{FF2B5EF4-FFF2-40B4-BE49-F238E27FC236}">
                <a16:creationId xmlns:a16="http://schemas.microsoft.com/office/drawing/2014/main" id="{04431F45-77BC-1ACE-09D4-047917AEFBF5}"/>
              </a:ext>
            </a:extLst>
          </p:cNvPr>
          <p:cNvSpPr/>
          <p:nvPr/>
        </p:nvSpPr>
        <p:spPr>
          <a:xfrm>
            <a:off x="454795" y="3905758"/>
            <a:ext cx="720080" cy="585542"/>
          </a:xfrm>
          <a:prstGeom prst="flowChartDelay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A3C5AC-F069-53E5-8100-039AD161AE2E}"/>
              </a:ext>
            </a:extLst>
          </p:cNvPr>
          <p:cNvSpPr/>
          <p:nvPr/>
        </p:nvSpPr>
        <p:spPr>
          <a:xfrm>
            <a:off x="2610499" y="3654018"/>
            <a:ext cx="48286" cy="8486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3AE726-3686-5B1C-C182-3C67ED3C35C8}"/>
              </a:ext>
            </a:extLst>
          </p:cNvPr>
          <p:cNvSpPr/>
          <p:nvPr/>
        </p:nvSpPr>
        <p:spPr>
          <a:xfrm>
            <a:off x="2678493" y="3629618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0CC4D8-0A78-356B-5AF0-81913F7F7098}"/>
              </a:ext>
            </a:extLst>
          </p:cNvPr>
          <p:cNvSpPr/>
          <p:nvPr/>
        </p:nvSpPr>
        <p:spPr>
          <a:xfrm>
            <a:off x="3413304" y="3410336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EF6254-8335-DF6C-28CB-060B6423BFDB}"/>
              </a:ext>
            </a:extLst>
          </p:cNvPr>
          <p:cNvSpPr/>
          <p:nvPr/>
        </p:nvSpPr>
        <p:spPr>
          <a:xfrm>
            <a:off x="3565705" y="3096573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5AF78C-4AFF-3611-2EA8-EC8DC9E3C2AD}"/>
              </a:ext>
            </a:extLst>
          </p:cNvPr>
          <p:cNvSpPr/>
          <p:nvPr/>
        </p:nvSpPr>
        <p:spPr>
          <a:xfrm>
            <a:off x="2524087" y="3516982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4DA327-E3B7-E2EA-88C4-27151F902335}"/>
              </a:ext>
            </a:extLst>
          </p:cNvPr>
          <p:cNvSpPr/>
          <p:nvPr/>
        </p:nvSpPr>
        <p:spPr>
          <a:xfrm>
            <a:off x="2660622" y="3314678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5A26DF-2324-A4C6-FD91-3339817B9435}"/>
              </a:ext>
            </a:extLst>
          </p:cNvPr>
          <p:cNvSpPr/>
          <p:nvPr/>
        </p:nvSpPr>
        <p:spPr>
          <a:xfrm>
            <a:off x="2660622" y="3361323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999CCB-2F19-4E9A-E34B-1DF822468F75}"/>
              </a:ext>
            </a:extLst>
          </p:cNvPr>
          <p:cNvSpPr/>
          <p:nvPr/>
        </p:nvSpPr>
        <p:spPr>
          <a:xfrm>
            <a:off x="2660622" y="3412391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831155-DBD0-C541-3D98-FD1BB5FFA4F9}"/>
              </a:ext>
            </a:extLst>
          </p:cNvPr>
          <p:cNvSpPr/>
          <p:nvPr/>
        </p:nvSpPr>
        <p:spPr>
          <a:xfrm>
            <a:off x="2660622" y="3463459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2591FB-FB89-9256-3883-7F8F0BB5B9A4}"/>
              </a:ext>
            </a:extLst>
          </p:cNvPr>
          <p:cNvSpPr/>
          <p:nvPr/>
        </p:nvSpPr>
        <p:spPr>
          <a:xfrm>
            <a:off x="2058172" y="3410336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BB9FD79-507D-EC0F-4F8A-F3F082B240D0}"/>
              </a:ext>
            </a:extLst>
          </p:cNvPr>
          <p:cNvSpPr/>
          <p:nvPr/>
        </p:nvSpPr>
        <p:spPr>
          <a:xfrm>
            <a:off x="2210573" y="3095615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18CD1B0-5700-3AE9-BAD4-F133E03CAC2D}"/>
              </a:ext>
            </a:extLst>
          </p:cNvPr>
          <p:cNvSpPr/>
          <p:nvPr/>
        </p:nvSpPr>
        <p:spPr>
          <a:xfrm rot="21173950">
            <a:off x="1274580" y="3643610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386EEE-85FF-C2C8-3B9A-744D2AD97FFB}"/>
              </a:ext>
            </a:extLst>
          </p:cNvPr>
          <p:cNvSpPr/>
          <p:nvPr/>
        </p:nvSpPr>
        <p:spPr>
          <a:xfrm rot="21173950">
            <a:off x="1411115" y="3441306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DC63909-4D68-FBA7-ABEA-7620AEFFE76C}"/>
              </a:ext>
            </a:extLst>
          </p:cNvPr>
          <p:cNvSpPr/>
          <p:nvPr/>
        </p:nvSpPr>
        <p:spPr>
          <a:xfrm rot="21173950">
            <a:off x="1411115" y="3487951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2AA678-57FE-9944-FB51-80C5A1D47413}"/>
              </a:ext>
            </a:extLst>
          </p:cNvPr>
          <p:cNvSpPr/>
          <p:nvPr/>
        </p:nvSpPr>
        <p:spPr>
          <a:xfrm rot="21173950">
            <a:off x="1411115" y="3539019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059194-32CF-E659-CE47-045E430BADA0}"/>
              </a:ext>
            </a:extLst>
          </p:cNvPr>
          <p:cNvSpPr/>
          <p:nvPr/>
        </p:nvSpPr>
        <p:spPr>
          <a:xfrm rot="21173950">
            <a:off x="1411115" y="3590087"/>
            <a:ext cx="612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95EAD70-399A-5F4D-417E-621C9E3B0128}"/>
              </a:ext>
            </a:extLst>
          </p:cNvPr>
          <p:cNvCxnSpPr/>
          <p:nvPr/>
        </p:nvCxnSpPr>
        <p:spPr>
          <a:xfrm flipH="1">
            <a:off x="2514887" y="3115150"/>
            <a:ext cx="864096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7">
            <a:extLst>
              <a:ext uri="{FF2B5EF4-FFF2-40B4-BE49-F238E27FC236}">
                <a16:creationId xmlns:a16="http://schemas.microsoft.com/office/drawing/2014/main" id="{DF5D0FEC-CBC3-5FE4-29BA-79BC36D08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792" y="3296041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28" name="Rectangle 37">
            <a:extLst>
              <a:ext uri="{FF2B5EF4-FFF2-40B4-BE49-F238E27FC236}">
                <a16:creationId xmlns:a16="http://schemas.microsoft.com/office/drawing/2014/main" id="{0D69429B-8AA0-0021-10E3-F1A0CE365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952" y="3473156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Rectangle 37">
            <a:extLst>
              <a:ext uri="{FF2B5EF4-FFF2-40B4-BE49-F238E27FC236}">
                <a16:creationId xmlns:a16="http://schemas.microsoft.com/office/drawing/2014/main" id="{5CB2C752-6FBA-A735-5352-233C61660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747" y="3616233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30" name="Rectangle 37">
            <a:extLst>
              <a:ext uri="{FF2B5EF4-FFF2-40B4-BE49-F238E27FC236}">
                <a16:creationId xmlns:a16="http://schemas.microsoft.com/office/drawing/2014/main" id="{F33C478D-61FD-DD48-BEEC-8E4E0DAC5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637" y="3417190"/>
            <a:ext cx="74377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Pusher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45A0EF29-2081-04F5-DA0A-A5B48D10C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17" y="4048850"/>
            <a:ext cx="7437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소결로</a:t>
            </a:r>
            <a:endParaRPr lang="en-US" altLang="ko-KR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sym typeface="Wingdings" panose="05000000000000000000" pitchFamily="2" charset="2"/>
            </a:endParaRPr>
          </a:p>
          <a:p>
            <a:pPr algn="ctr"/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Belt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Rectangle 37">
            <a:extLst>
              <a:ext uri="{FF2B5EF4-FFF2-40B4-BE49-F238E27FC236}">
                <a16:creationId xmlns:a16="http://schemas.microsoft.com/office/drawing/2014/main" id="{799B810E-2FED-05A9-C6CB-06FDFFBE0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8421" y="4009228"/>
            <a:ext cx="74377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5418C9B-BA83-8B09-FC8C-1538D40D2815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1760307" y="3772291"/>
            <a:ext cx="1" cy="236937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711BD81F-45FA-2957-0668-8323D0C5E42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5106" y="30787"/>
            <a:ext cx="1238487" cy="90219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8FFDE7D-47D9-6068-96A5-A3DF141210C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818" y="30787"/>
            <a:ext cx="1264715" cy="902191"/>
          </a:xfrm>
          <a:prstGeom prst="rect">
            <a:avLst/>
          </a:prstGeom>
        </p:spPr>
      </p:pic>
      <p:sp>
        <p:nvSpPr>
          <p:cNvPr id="40" name="Rectangle 37">
            <a:extLst>
              <a:ext uri="{FF2B5EF4-FFF2-40B4-BE49-F238E27FC236}">
                <a16:creationId xmlns:a16="http://schemas.microsoft.com/office/drawing/2014/main" id="{53BDCE1C-9F8E-B393-DE02-A5613BA79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881" y="725549"/>
            <a:ext cx="74377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높이 조정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EE1AA8F0-37A2-CFB7-541A-8D13B3136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107" y="64762"/>
            <a:ext cx="132071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높이 조정 과다 시 </a:t>
            </a:r>
            <a:r>
              <a:rPr lang="ko-KR" altLang="en-US" sz="600" b="1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단턱</a:t>
            </a:r>
            <a:r>
              <a:rPr lang="ko-KR" altLang="en-US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 발생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highlight>
                <a:srgbClr val="FFFF00"/>
              </a:highlight>
              <a:latin typeface="+mj-ea"/>
              <a:ea typeface="+mj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BC9AACA-4D46-F4AA-C357-567BF3071088}"/>
              </a:ext>
            </a:extLst>
          </p:cNvPr>
          <p:cNvCxnSpPr>
            <a:cxnSpLocks/>
          </p:cNvCxnSpPr>
          <p:nvPr/>
        </p:nvCxnSpPr>
        <p:spPr>
          <a:xfrm>
            <a:off x="6983894" y="755210"/>
            <a:ext cx="240909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F390659-BD2C-90FF-1C35-219B34FAB518}"/>
              </a:ext>
            </a:extLst>
          </p:cNvPr>
          <p:cNvCxnSpPr>
            <a:cxnSpLocks/>
          </p:cNvCxnSpPr>
          <p:nvPr/>
        </p:nvCxnSpPr>
        <p:spPr>
          <a:xfrm>
            <a:off x="7380312" y="246582"/>
            <a:ext cx="0" cy="1440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37">
            <a:extLst>
              <a:ext uri="{FF2B5EF4-FFF2-40B4-BE49-F238E27FC236}">
                <a16:creationId xmlns:a16="http://schemas.microsoft.com/office/drawing/2014/main" id="{91F34118-FFDE-D4FC-F1D7-29FA215FF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475" y="658892"/>
            <a:ext cx="111401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2T </a:t>
            </a:r>
            <a:r>
              <a:rPr lang="ko-KR" altLang="en-US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철판 </a:t>
            </a:r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: </a:t>
            </a:r>
            <a:r>
              <a:rPr lang="ko-KR" altLang="en-US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highlight>
                  <a:srgbClr val="FFFF00"/>
                </a:highlight>
                <a:latin typeface="+mj-ea"/>
                <a:ea typeface="+mj-ea"/>
                <a:sym typeface="Wingdings" panose="05000000000000000000" pitchFamily="2" charset="2"/>
              </a:rPr>
              <a:t>자중으로 휨 발생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highlight>
                <a:srgbClr val="FFFF00"/>
              </a:highlight>
              <a:latin typeface="+mj-ea"/>
              <a:ea typeface="+mj-ea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84F85B2-864C-398C-CB52-7C7411FF4326}"/>
              </a:ext>
            </a:extLst>
          </p:cNvPr>
          <p:cNvCxnSpPr>
            <a:cxnSpLocks/>
          </p:cNvCxnSpPr>
          <p:nvPr/>
        </p:nvCxnSpPr>
        <p:spPr>
          <a:xfrm>
            <a:off x="8561312" y="474968"/>
            <a:ext cx="246274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>
            <a:extLst>
              <a:ext uri="{FF2B5EF4-FFF2-40B4-BE49-F238E27FC236}">
                <a16:creationId xmlns:a16="http://schemas.microsoft.com/office/drawing/2014/main" id="{D5D176E6-4CF2-4D66-4589-0DE07B93675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0787"/>
            <a:ext cx="1569236" cy="8970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C41C45-8EC2-0636-78F6-BA593E32B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6" y="1005257"/>
            <a:ext cx="2822330" cy="19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4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E243F-8A29-F825-0913-F2A7C84E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文本占位符 58">
            <a:extLst>
              <a:ext uri="{FF2B5EF4-FFF2-40B4-BE49-F238E27FC236}">
                <a16:creationId xmlns:a16="http://schemas.microsoft.com/office/drawing/2014/main" id="{AEB5C30F-9B26-39D1-B7ED-2847C9196D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36312" y="367545"/>
            <a:ext cx="5983758" cy="32919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4 )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대책</a:t>
            </a:r>
            <a:endParaRPr lang="zh-CN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37">
            <a:extLst>
              <a:ext uri="{FF2B5EF4-FFF2-40B4-BE49-F238E27FC236}">
                <a16:creationId xmlns:a16="http://schemas.microsoft.com/office/drawing/2014/main" id="{D6BD1215-43F5-27A2-4D47-A98190F3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86757"/>
            <a:ext cx="49809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제품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휨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6DB482B-1A9E-55A5-BFD6-BC51BD5AD648}"/>
              </a:ext>
            </a:extLst>
          </p:cNvPr>
          <p:cNvCxnSpPr>
            <a:cxnSpLocks/>
          </p:cNvCxnSpPr>
          <p:nvPr/>
        </p:nvCxnSpPr>
        <p:spPr>
          <a:xfrm>
            <a:off x="4572000" y="1168544"/>
            <a:ext cx="0" cy="309634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E783AAF-91B2-5BD3-CB61-1DCE9C7F2A0B}"/>
              </a:ext>
            </a:extLst>
          </p:cNvPr>
          <p:cNvCxnSpPr>
            <a:cxnSpLocks/>
          </p:cNvCxnSpPr>
          <p:nvPr/>
        </p:nvCxnSpPr>
        <p:spPr>
          <a:xfrm>
            <a:off x="611560" y="1491630"/>
            <a:ext cx="770485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37">
            <a:extLst>
              <a:ext uri="{FF2B5EF4-FFF2-40B4-BE49-F238E27FC236}">
                <a16:creationId xmlns:a16="http://schemas.microsoft.com/office/drawing/2014/main" id="{C793F2D5-F33A-516B-A92D-46E014183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419" y="1176837"/>
            <a:ext cx="1526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전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58" name="Rectangle 37">
            <a:extLst>
              <a:ext uri="{FF2B5EF4-FFF2-40B4-BE49-F238E27FC236}">
                <a16:creationId xmlns:a16="http://schemas.microsoft.com/office/drawing/2014/main" id="{98668E6D-C1C7-6E77-1042-266C0AA4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366" y="1176566"/>
            <a:ext cx="1526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후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60" name="Rectangle 37">
            <a:extLst>
              <a:ext uri="{FF2B5EF4-FFF2-40B4-BE49-F238E27FC236}">
                <a16:creationId xmlns:a16="http://schemas.microsoft.com/office/drawing/2014/main" id="{B7ECD2A6-9BBC-E79F-33C3-802AD3465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9" y="3821147"/>
            <a:ext cx="3996444" cy="23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lvl="0" defTabSz="914400" fontAlgn="b" latinLnBrk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</a:t>
            </a:r>
            <a:r>
              <a:rPr kumimoji="1" lang="en-US" altLang="ko-KR" sz="800" dirty="0">
                <a:latin typeface="+mj-ea"/>
              </a:rPr>
              <a:t>3</a:t>
            </a:r>
            <a:r>
              <a:rPr kumimoji="1" lang="ko-KR" altLang="en-US" sz="800" dirty="0">
                <a:latin typeface="+mj-ea"/>
              </a:rPr>
              <a:t>점 </a:t>
            </a:r>
            <a:r>
              <a:rPr kumimoji="1" lang="ko-KR" altLang="en-US" sz="800" dirty="0" err="1">
                <a:latin typeface="+mj-ea"/>
              </a:rPr>
              <a:t>정렬봉</a:t>
            </a:r>
            <a:r>
              <a:rPr kumimoji="1" lang="ko-KR" altLang="en-US" sz="800" dirty="0">
                <a:latin typeface="+mj-ea"/>
              </a:rPr>
              <a:t> 형상 선접촉으로 마찰력 집중</a:t>
            </a:r>
            <a:endParaRPr kumimoji="1" lang="en-US" altLang="ko-KR" sz="800" dirty="0">
              <a:latin typeface="+mj-ea"/>
            </a:endParaRPr>
          </a:p>
        </p:txBody>
      </p:sp>
      <p:sp>
        <p:nvSpPr>
          <p:cNvPr id="64" name="Rectangle 37">
            <a:extLst>
              <a:ext uri="{FF2B5EF4-FFF2-40B4-BE49-F238E27FC236}">
                <a16:creationId xmlns:a16="http://schemas.microsoft.com/office/drawing/2014/main" id="{4A67FE9A-248D-1DF6-8BC7-9D3A2AD7A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028" y="3821147"/>
            <a:ext cx="3996444" cy="688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면접촉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Type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으로 변경하여 마찰력 축소 검토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(~8/30)</a:t>
            </a: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2.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어큠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롤러 및 노후 실린더 점검 및 교체 예정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(~8/30)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※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에어 강도는 최소로 운영 중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  <a:sym typeface="Wingdings" panose="05000000000000000000" pitchFamily="2" charset="2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701C1B3-8F74-DE24-158D-7DAF20EC22A0}"/>
              </a:ext>
            </a:extLst>
          </p:cNvPr>
          <p:cNvGrpSpPr/>
          <p:nvPr/>
        </p:nvGrpSpPr>
        <p:grpSpPr>
          <a:xfrm>
            <a:off x="827585" y="1760731"/>
            <a:ext cx="3078322" cy="1446974"/>
            <a:chOff x="476112" y="1124776"/>
            <a:chExt cx="2155487" cy="977669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106F39BB-CB36-5DF5-444E-7332AF70FB28}"/>
                </a:ext>
              </a:extLst>
            </p:cNvPr>
            <p:cNvSpPr/>
            <p:nvPr/>
          </p:nvSpPr>
          <p:spPr>
            <a:xfrm>
              <a:off x="1706527" y="1125605"/>
              <a:ext cx="925072" cy="9768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E4DAFAA-89C1-C4CF-2443-FFA93036FF3D}"/>
                </a:ext>
              </a:extLst>
            </p:cNvPr>
            <p:cNvSpPr/>
            <p:nvPr/>
          </p:nvSpPr>
          <p:spPr>
            <a:xfrm>
              <a:off x="1827188" y="1253019"/>
              <a:ext cx="683749" cy="7220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B2A9166-6F38-82FB-1E5F-2720EA09FE34}"/>
                </a:ext>
              </a:extLst>
            </p:cNvPr>
            <p:cNvSpPr/>
            <p:nvPr/>
          </p:nvSpPr>
          <p:spPr>
            <a:xfrm>
              <a:off x="1887519" y="1316726"/>
              <a:ext cx="563088" cy="59459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D0B0F00-CB12-F492-B6E6-D811686C2FBF}"/>
                </a:ext>
              </a:extLst>
            </p:cNvPr>
            <p:cNvSpPr/>
            <p:nvPr/>
          </p:nvSpPr>
          <p:spPr>
            <a:xfrm>
              <a:off x="1971953" y="1388805"/>
              <a:ext cx="120662" cy="12741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90410BB-73C6-5C9C-4D58-75766742BBC5}"/>
                </a:ext>
              </a:extLst>
            </p:cNvPr>
            <p:cNvSpPr/>
            <p:nvPr/>
          </p:nvSpPr>
          <p:spPr>
            <a:xfrm>
              <a:off x="2323649" y="1550318"/>
              <a:ext cx="120662" cy="12741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447778F-11E2-26D5-C927-2EC9745C94F1}"/>
                </a:ext>
              </a:extLst>
            </p:cNvPr>
            <p:cNvSpPr/>
            <p:nvPr/>
          </p:nvSpPr>
          <p:spPr>
            <a:xfrm>
              <a:off x="2048401" y="1774691"/>
              <a:ext cx="120662" cy="12741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EBAAE88-E198-0F27-2D9A-2F66D5B33ACC}"/>
                </a:ext>
              </a:extLst>
            </p:cNvPr>
            <p:cNvSpPr/>
            <p:nvPr/>
          </p:nvSpPr>
          <p:spPr>
            <a:xfrm>
              <a:off x="476112" y="1124776"/>
              <a:ext cx="925072" cy="9768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4290CE3-4534-8A0E-6ABF-9DCC7E9E7C85}"/>
                </a:ext>
              </a:extLst>
            </p:cNvPr>
            <p:cNvSpPr/>
            <p:nvPr/>
          </p:nvSpPr>
          <p:spPr>
            <a:xfrm>
              <a:off x="596774" y="1252190"/>
              <a:ext cx="683749" cy="7220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533A048-D200-EB0F-B78E-B1DF4F3E2B28}"/>
                </a:ext>
              </a:extLst>
            </p:cNvPr>
            <p:cNvSpPr/>
            <p:nvPr/>
          </p:nvSpPr>
          <p:spPr>
            <a:xfrm>
              <a:off x="657105" y="1315897"/>
              <a:ext cx="563088" cy="59459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A3E1002-A354-8598-7875-373FED36125F}"/>
                </a:ext>
              </a:extLst>
            </p:cNvPr>
            <p:cNvSpPr/>
            <p:nvPr/>
          </p:nvSpPr>
          <p:spPr>
            <a:xfrm>
              <a:off x="821123" y="1483259"/>
              <a:ext cx="120662" cy="12741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BB969D1-6BAA-BE65-16BE-39E3F633DC9C}"/>
                </a:ext>
              </a:extLst>
            </p:cNvPr>
            <p:cNvSpPr/>
            <p:nvPr/>
          </p:nvSpPr>
          <p:spPr>
            <a:xfrm>
              <a:off x="1016636" y="1543479"/>
              <a:ext cx="120662" cy="12741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4E7561D-A70E-48F1-17E9-8E742C1E7B39}"/>
                </a:ext>
              </a:extLst>
            </p:cNvPr>
            <p:cNvSpPr/>
            <p:nvPr/>
          </p:nvSpPr>
          <p:spPr>
            <a:xfrm>
              <a:off x="866932" y="1672970"/>
              <a:ext cx="120662" cy="127414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화살표: 오른쪽으로 구부러짐 21">
              <a:extLst>
                <a:ext uri="{FF2B5EF4-FFF2-40B4-BE49-F238E27FC236}">
                  <a16:creationId xmlns:a16="http://schemas.microsoft.com/office/drawing/2014/main" id="{6E480231-C53B-34C1-B5E9-BD72283E32CA}"/>
                </a:ext>
              </a:extLst>
            </p:cNvPr>
            <p:cNvSpPr/>
            <p:nvPr/>
          </p:nvSpPr>
          <p:spPr>
            <a:xfrm>
              <a:off x="529721" y="1417990"/>
              <a:ext cx="180861" cy="413280"/>
            </a:xfrm>
            <a:prstGeom prst="curved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화살표: 오른쪽으로 구부러짐 22">
              <a:extLst>
                <a:ext uri="{FF2B5EF4-FFF2-40B4-BE49-F238E27FC236}">
                  <a16:creationId xmlns:a16="http://schemas.microsoft.com/office/drawing/2014/main" id="{5527071C-E861-25E6-49D5-A9BA64AE8A91}"/>
                </a:ext>
              </a:extLst>
            </p:cNvPr>
            <p:cNvSpPr/>
            <p:nvPr/>
          </p:nvSpPr>
          <p:spPr>
            <a:xfrm rot="10800000">
              <a:off x="1168211" y="1417988"/>
              <a:ext cx="180861" cy="413280"/>
            </a:xfrm>
            <a:prstGeom prst="curved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77DC0EE-DC2F-EF98-7377-73CD8CF5DE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669" y="1623205"/>
              <a:ext cx="200098" cy="0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타원 26">
            <a:extLst>
              <a:ext uri="{FF2B5EF4-FFF2-40B4-BE49-F238E27FC236}">
                <a16:creationId xmlns:a16="http://schemas.microsoft.com/office/drawing/2014/main" id="{7882AFF2-33B0-8DC2-384D-7F410D22D6B5}"/>
              </a:ext>
            </a:extLst>
          </p:cNvPr>
          <p:cNvSpPr/>
          <p:nvPr/>
        </p:nvSpPr>
        <p:spPr>
          <a:xfrm>
            <a:off x="6674753" y="1769950"/>
            <a:ext cx="1321126" cy="144574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71856FE-B000-42BF-7AB5-70AFA027400D}"/>
              </a:ext>
            </a:extLst>
          </p:cNvPr>
          <p:cNvSpPr/>
          <p:nvPr/>
        </p:nvSpPr>
        <p:spPr>
          <a:xfrm>
            <a:off x="6847073" y="1958526"/>
            <a:ext cx="976484" cy="10685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C6A3CD6-7BE1-18E1-A479-0BE6DACAAB8A}"/>
              </a:ext>
            </a:extLst>
          </p:cNvPr>
          <p:cNvSpPr/>
          <p:nvPr/>
        </p:nvSpPr>
        <p:spPr>
          <a:xfrm>
            <a:off x="6933234" y="2052814"/>
            <a:ext cx="804165" cy="8800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B558289-21F3-C1F7-8340-8ED1A0B9D6B6}"/>
              </a:ext>
            </a:extLst>
          </p:cNvPr>
          <p:cNvSpPr/>
          <p:nvPr/>
        </p:nvSpPr>
        <p:spPr>
          <a:xfrm>
            <a:off x="4917557" y="1768723"/>
            <a:ext cx="1321126" cy="144574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4EEA1A0-11B8-0EB3-FEEB-9501D270FD3D}"/>
              </a:ext>
            </a:extLst>
          </p:cNvPr>
          <p:cNvSpPr/>
          <p:nvPr/>
        </p:nvSpPr>
        <p:spPr>
          <a:xfrm>
            <a:off x="5089878" y="1957299"/>
            <a:ext cx="976484" cy="10685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34942F3-741A-B177-339E-186151C8388D}"/>
              </a:ext>
            </a:extLst>
          </p:cNvPr>
          <p:cNvSpPr/>
          <p:nvPr/>
        </p:nvSpPr>
        <p:spPr>
          <a:xfrm>
            <a:off x="5176039" y="2051587"/>
            <a:ext cx="804165" cy="8800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화살표: 오른쪽으로 구부러짐 38">
            <a:extLst>
              <a:ext uri="{FF2B5EF4-FFF2-40B4-BE49-F238E27FC236}">
                <a16:creationId xmlns:a16="http://schemas.microsoft.com/office/drawing/2014/main" id="{196381D2-27B9-7731-E0C7-C5EFB947C857}"/>
              </a:ext>
            </a:extLst>
          </p:cNvPr>
          <p:cNvSpPr/>
          <p:nvPr/>
        </p:nvSpPr>
        <p:spPr>
          <a:xfrm>
            <a:off x="4994118" y="2202687"/>
            <a:ext cx="258294" cy="611664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화살표: 오른쪽으로 구부러짐 39">
            <a:extLst>
              <a:ext uri="{FF2B5EF4-FFF2-40B4-BE49-F238E27FC236}">
                <a16:creationId xmlns:a16="http://schemas.microsoft.com/office/drawing/2014/main" id="{9D4DE283-D8AD-F66E-4A0E-D14EFE63BB3A}"/>
              </a:ext>
            </a:extLst>
          </p:cNvPr>
          <p:cNvSpPr/>
          <p:nvPr/>
        </p:nvSpPr>
        <p:spPr>
          <a:xfrm rot="10800000">
            <a:off x="5905966" y="2202684"/>
            <a:ext cx="258294" cy="611664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DD28734-CF6E-CDA0-37A5-D4294E77283E}"/>
              </a:ext>
            </a:extLst>
          </p:cNvPr>
          <p:cNvCxnSpPr>
            <a:cxnSpLocks/>
          </p:cNvCxnSpPr>
          <p:nvPr/>
        </p:nvCxnSpPr>
        <p:spPr>
          <a:xfrm flipH="1">
            <a:off x="6272223" y="2506410"/>
            <a:ext cx="285767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부분 원형 47">
            <a:extLst>
              <a:ext uri="{FF2B5EF4-FFF2-40B4-BE49-F238E27FC236}">
                <a16:creationId xmlns:a16="http://schemas.microsoft.com/office/drawing/2014/main" id="{4948FAB9-01C5-4445-F653-17E0748770AC}"/>
              </a:ext>
            </a:extLst>
          </p:cNvPr>
          <p:cNvSpPr/>
          <p:nvPr/>
        </p:nvSpPr>
        <p:spPr>
          <a:xfrm rot="7200000">
            <a:off x="5294792" y="2204497"/>
            <a:ext cx="576000" cy="576000"/>
          </a:xfrm>
          <a:prstGeom prst="pie">
            <a:avLst>
              <a:gd name="adj1" fmla="val 11124543"/>
              <a:gd name="adj2" fmla="val 1814230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부분 원형 49">
            <a:extLst>
              <a:ext uri="{FF2B5EF4-FFF2-40B4-BE49-F238E27FC236}">
                <a16:creationId xmlns:a16="http://schemas.microsoft.com/office/drawing/2014/main" id="{5784FFCB-00DA-E471-56BE-D3A4E75CE732}"/>
              </a:ext>
            </a:extLst>
          </p:cNvPr>
          <p:cNvSpPr/>
          <p:nvPr/>
        </p:nvSpPr>
        <p:spPr>
          <a:xfrm rot="14422885">
            <a:off x="5296004" y="2199876"/>
            <a:ext cx="576000" cy="576000"/>
          </a:xfrm>
          <a:prstGeom prst="pie">
            <a:avLst>
              <a:gd name="adj1" fmla="val 11124543"/>
              <a:gd name="adj2" fmla="val 1814230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부분 원형 50">
            <a:extLst>
              <a:ext uri="{FF2B5EF4-FFF2-40B4-BE49-F238E27FC236}">
                <a16:creationId xmlns:a16="http://schemas.microsoft.com/office/drawing/2014/main" id="{293AFD98-9E1B-8A9B-338A-D59AD4B3CB94}"/>
              </a:ext>
            </a:extLst>
          </p:cNvPr>
          <p:cNvSpPr/>
          <p:nvPr/>
        </p:nvSpPr>
        <p:spPr>
          <a:xfrm>
            <a:off x="5297700" y="2204119"/>
            <a:ext cx="576000" cy="576000"/>
          </a:xfrm>
          <a:prstGeom prst="pie">
            <a:avLst>
              <a:gd name="adj1" fmla="val 11124543"/>
              <a:gd name="adj2" fmla="val 1814230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부분 원형 51">
            <a:extLst>
              <a:ext uri="{FF2B5EF4-FFF2-40B4-BE49-F238E27FC236}">
                <a16:creationId xmlns:a16="http://schemas.microsoft.com/office/drawing/2014/main" id="{571D20AB-F424-D9D2-8593-D795830E4AB4}"/>
              </a:ext>
            </a:extLst>
          </p:cNvPr>
          <p:cNvSpPr/>
          <p:nvPr/>
        </p:nvSpPr>
        <p:spPr>
          <a:xfrm rot="7200000">
            <a:off x="7153804" y="2210790"/>
            <a:ext cx="576000" cy="576000"/>
          </a:xfrm>
          <a:prstGeom prst="pie">
            <a:avLst>
              <a:gd name="adj1" fmla="val 11124543"/>
              <a:gd name="adj2" fmla="val 1814230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부분 원형 54">
            <a:extLst>
              <a:ext uri="{FF2B5EF4-FFF2-40B4-BE49-F238E27FC236}">
                <a16:creationId xmlns:a16="http://schemas.microsoft.com/office/drawing/2014/main" id="{B3F378A7-78E3-C48A-0268-46CE8788FCED}"/>
              </a:ext>
            </a:extLst>
          </p:cNvPr>
          <p:cNvSpPr/>
          <p:nvPr/>
        </p:nvSpPr>
        <p:spPr>
          <a:xfrm rot="14422885">
            <a:off x="7003821" y="2339275"/>
            <a:ext cx="576000" cy="576000"/>
          </a:xfrm>
          <a:prstGeom prst="pie">
            <a:avLst>
              <a:gd name="adj1" fmla="val 11124543"/>
              <a:gd name="adj2" fmla="val 1814230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부분 원형 55">
            <a:extLst>
              <a:ext uri="{FF2B5EF4-FFF2-40B4-BE49-F238E27FC236}">
                <a16:creationId xmlns:a16="http://schemas.microsoft.com/office/drawing/2014/main" id="{5BBE7CBB-A9E4-0D4F-E6A7-0B35D14C02F0}"/>
              </a:ext>
            </a:extLst>
          </p:cNvPr>
          <p:cNvSpPr/>
          <p:nvPr/>
        </p:nvSpPr>
        <p:spPr>
          <a:xfrm>
            <a:off x="6989856" y="2082934"/>
            <a:ext cx="576000" cy="576000"/>
          </a:xfrm>
          <a:prstGeom prst="pie">
            <a:avLst>
              <a:gd name="adj1" fmla="val 11124543"/>
              <a:gd name="adj2" fmla="val 18142309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74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E243F-8A29-F825-0913-F2A7C84E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6" name="文本占位符 58">
            <a:extLst>
              <a:ext uri="{FF2B5EF4-FFF2-40B4-BE49-F238E27FC236}">
                <a16:creationId xmlns:a16="http://schemas.microsoft.com/office/drawing/2014/main" id="{AEB5C30F-9B26-39D1-B7ED-2847C9196D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36312" y="367545"/>
            <a:ext cx="5983758" cy="32919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5 )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대책</a:t>
            </a:r>
            <a:endParaRPr lang="zh-CN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37">
            <a:extLst>
              <a:ext uri="{FF2B5EF4-FFF2-40B4-BE49-F238E27FC236}">
                <a16:creationId xmlns:a16="http://schemas.microsoft.com/office/drawing/2014/main" id="{D6BD1215-43F5-27A2-4D47-A98190F3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86757"/>
            <a:ext cx="49809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제품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휨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6DB482B-1A9E-55A5-BFD6-BC51BD5AD648}"/>
              </a:ext>
            </a:extLst>
          </p:cNvPr>
          <p:cNvCxnSpPr>
            <a:cxnSpLocks/>
          </p:cNvCxnSpPr>
          <p:nvPr/>
        </p:nvCxnSpPr>
        <p:spPr>
          <a:xfrm>
            <a:off x="4572000" y="1168544"/>
            <a:ext cx="0" cy="3456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E783AAF-91B2-5BD3-CB61-1DCE9C7F2A0B}"/>
              </a:ext>
            </a:extLst>
          </p:cNvPr>
          <p:cNvCxnSpPr>
            <a:cxnSpLocks/>
          </p:cNvCxnSpPr>
          <p:nvPr/>
        </p:nvCxnSpPr>
        <p:spPr>
          <a:xfrm>
            <a:off x="611560" y="1491630"/>
            <a:ext cx="770485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37">
            <a:extLst>
              <a:ext uri="{FF2B5EF4-FFF2-40B4-BE49-F238E27FC236}">
                <a16:creationId xmlns:a16="http://schemas.microsoft.com/office/drawing/2014/main" id="{C793F2D5-F33A-516B-A92D-46E014183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419" y="1176837"/>
            <a:ext cx="1526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전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58" name="Rectangle 37">
            <a:extLst>
              <a:ext uri="{FF2B5EF4-FFF2-40B4-BE49-F238E27FC236}">
                <a16:creationId xmlns:a16="http://schemas.microsoft.com/office/drawing/2014/main" id="{98668E6D-C1C7-6E77-1042-266C0AA4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366" y="1176566"/>
            <a:ext cx="1526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후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60" name="Rectangle 37">
            <a:extLst>
              <a:ext uri="{FF2B5EF4-FFF2-40B4-BE49-F238E27FC236}">
                <a16:creationId xmlns:a16="http://schemas.microsoft.com/office/drawing/2014/main" id="{B7ECD2A6-9BBC-E79F-33C3-802AD3465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9" y="3736600"/>
            <a:ext cx="3996444" cy="23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lvl="0" defTabSz="914400" fontAlgn="b" latinLnBrk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</a:t>
            </a:r>
            <a:r>
              <a:rPr kumimoji="1"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각도 지속 변경으로 제품과 </a:t>
            </a:r>
            <a:r>
              <a:rPr kumimoji="1"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3</a:t>
            </a:r>
            <a:r>
              <a:rPr kumimoji="1"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점 정렬바와 마찰력 증가 </a:t>
            </a:r>
            <a:endParaRPr kumimoji="1" lang="en-US" altLang="ko-KR" sz="900" dirty="0">
              <a:latin typeface="+mj-ea"/>
            </a:endParaRPr>
          </a:p>
        </p:txBody>
      </p:sp>
      <p:sp>
        <p:nvSpPr>
          <p:cNvPr id="64" name="Rectangle 37">
            <a:extLst>
              <a:ext uri="{FF2B5EF4-FFF2-40B4-BE49-F238E27FC236}">
                <a16:creationId xmlns:a16="http://schemas.microsoft.com/office/drawing/2014/main" id="{4A67FE9A-248D-1DF6-8BC7-9D3A2AD7A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487" y="3732077"/>
            <a:ext cx="4337972" cy="896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지지대를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쳐짐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방지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Type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으로 제작 완료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(7/16)</a:t>
            </a: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 :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각도 고정 후 최적 자동화 높이 셋팅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(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제품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장입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,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엘리베이터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취출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 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→ 제품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장입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자동화 높이를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Belt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가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A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or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C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급 일 때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Setting</a:t>
            </a: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 : Chute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끝 일부 구간은 제품 무게로 휨 추정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(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단턱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으로 인한 틀어짐 방지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D66DB1B-0CB9-2C7D-8E74-54EA1D291DC6}"/>
              </a:ext>
            </a:extLst>
          </p:cNvPr>
          <p:cNvSpPr/>
          <p:nvPr/>
        </p:nvSpPr>
        <p:spPr>
          <a:xfrm rot="21162213" flipV="1">
            <a:off x="2112279" y="2093131"/>
            <a:ext cx="183328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순서도: 지연 60">
            <a:extLst>
              <a:ext uri="{FF2B5EF4-FFF2-40B4-BE49-F238E27FC236}">
                <a16:creationId xmlns:a16="http://schemas.microsoft.com/office/drawing/2014/main" id="{4D959043-206D-AC7C-EAE5-A52FA943E5D6}"/>
              </a:ext>
            </a:extLst>
          </p:cNvPr>
          <p:cNvSpPr/>
          <p:nvPr/>
        </p:nvSpPr>
        <p:spPr>
          <a:xfrm>
            <a:off x="1737050" y="2255082"/>
            <a:ext cx="720080" cy="585542"/>
          </a:xfrm>
          <a:prstGeom prst="flowChartDelay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FA55C6E-AE8D-7762-4734-39096E1687E5}"/>
              </a:ext>
            </a:extLst>
          </p:cNvPr>
          <p:cNvSpPr/>
          <p:nvPr/>
        </p:nvSpPr>
        <p:spPr>
          <a:xfrm>
            <a:off x="3892754" y="2003342"/>
            <a:ext cx="48286" cy="84866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7311714-8376-BAB1-01E4-6D3AFC12002A}"/>
              </a:ext>
            </a:extLst>
          </p:cNvPr>
          <p:cNvSpPr/>
          <p:nvPr/>
        </p:nvSpPr>
        <p:spPr>
          <a:xfrm>
            <a:off x="3960748" y="1978942"/>
            <a:ext cx="517439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37">
            <a:extLst>
              <a:ext uri="{FF2B5EF4-FFF2-40B4-BE49-F238E27FC236}">
                <a16:creationId xmlns:a16="http://schemas.microsoft.com/office/drawing/2014/main" id="{078E61A7-1AC0-6578-88DB-1F6F38371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9325" y="1965557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66" name="Rectangle 37">
            <a:extLst>
              <a:ext uri="{FF2B5EF4-FFF2-40B4-BE49-F238E27FC236}">
                <a16:creationId xmlns:a16="http://schemas.microsoft.com/office/drawing/2014/main" id="{21DA604C-B070-419D-9CF8-E93CA7374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272" y="2398174"/>
            <a:ext cx="7437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소결로</a:t>
            </a:r>
            <a:endParaRPr lang="en-US" altLang="ko-KR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sym typeface="Wingdings" panose="05000000000000000000" pitchFamily="2" charset="2"/>
            </a:endParaRPr>
          </a:p>
          <a:p>
            <a:pPr algn="ctr"/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Belt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7" name="Rectangle 37">
            <a:extLst>
              <a:ext uri="{FF2B5EF4-FFF2-40B4-BE49-F238E27FC236}">
                <a16:creationId xmlns:a16="http://schemas.microsoft.com/office/drawing/2014/main" id="{E2277E57-6AA3-C81C-6827-2A1E884F0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032" y="1749665"/>
            <a:ext cx="74377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Chute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EE33897-4AD9-189A-577A-5E6F75638026}"/>
              </a:ext>
            </a:extLst>
          </p:cNvPr>
          <p:cNvCxnSpPr>
            <a:cxnSpLocks/>
          </p:cNvCxnSpPr>
          <p:nvPr/>
        </p:nvCxnSpPr>
        <p:spPr>
          <a:xfrm>
            <a:off x="3042562" y="1933925"/>
            <a:ext cx="0" cy="18769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원호 68">
            <a:extLst>
              <a:ext uri="{FF2B5EF4-FFF2-40B4-BE49-F238E27FC236}">
                <a16:creationId xmlns:a16="http://schemas.microsoft.com/office/drawing/2014/main" id="{CC1F0B7D-1F29-8CF5-B162-9E517E34AABE}"/>
              </a:ext>
            </a:extLst>
          </p:cNvPr>
          <p:cNvSpPr/>
          <p:nvPr/>
        </p:nvSpPr>
        <p:spPr>
          <a:xfrm rot="10356044">
            <a:off x="3728419" y="1916636"/>
            <a:ext cx="309431" cy="229119"/>
          </a:xfrm>
          <a:prstGeom prst="arc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37">
            <a:extLst>
              <a:ext uri="{FF2B5EF4-FFF2-40B4-BE49-F238E27FC236}">
                <a16:creationId xmlns:a16="http://schemas.microsoft.com/office/drawing/2014/main" id="{BCACA1D7-4F59-60E7-2D3F-6696FF715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022" y="2273816"/>
            <a:ext cx="7437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각도 지속 변경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2BE509D-97E0-585B-6AC7-BFB5072ECC7B}"/>
              </a:ext>
            </a:extLst>
          </p:cNvPr>
          <p:cNvCxnSpPr>
            <a:cxnSpLocks/>
          </p:cNvCxnSpPr>
          <p:nvPr/>
        </p:nvCxnSpPr>
        <p:spPr>
          <a:xfrm flipV="1">
            <a:off x="3632758" y="2138932"/>
            <a:ext cx="91774" cy="159124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358134B-807F-C1B9-81DE-6DBF5C81FB83}"/>
              </a:ext>
            </a:extLst>
          </p:cNvPr>
          <p:cNvSpPr/>
          <p:nvPr/>
        </p:nvSpPr>
        <p:spPr>
          <a:xfrm flipV="1">
            <a:off x="5327832" y="2015577"/>
            <a:ext cx="1833280" cy="5004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순서도: 지연 72">
            <a:extLst>
              <a:ext uri="{FF2B5EF4-FFF2-40B4-BE49-F238E27FC236}">
                <a16:creationId xmlns:a16="http://schemas.microsoft.com/office/drawing/2014/main" id="{51CBD236-CC33-FAF0-1084-9EC100D3723E}"/>
              </a:ext>
            </a:extLst>
          </p:cNvPr>
          <p:cNvSpPr/>
          <p:nvPr/>
        </p:nvSpPr>
        <p:spPr>
          <a:xfrm>
            <a:off x="4953220" y="2069327"/>
            <a:ext cx="720080" cy="585542"/>
          </a:xfrm>
          <a:prstGeom prst="flowChartDelay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DBE2AC6-A336-4651-9667-0ED677133B46}"/>
              </a:ext>
            </a:extLst>
          </p:cNvPr>
          <p:cNvSpPr/>
          <p:nvPr/>
        </p:nvSpPr>
        <p:spPr>
          <a:xfrm>
            <a:off x="7010125" y="2045478"/>
            <a:ext cx="154705" cy="72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8094D98-C61D-DC02-D5CF-3D116E0BD7E9}"/>
              </a:ext>
            </a:extLst>
          </p:cNvPr>
          <p:cNvSpPr/>
          <p:nvPr/>
        </p:nvSpPr>
        <p:spPr>
          <a:xfrm>
            <a:off x="7176918" y="2013674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37">
            <a:extLst>
              <a:ext uri="{FF2B5EF4-FFF2-40B4-BE49-F238E27FC236}">
                <a16:creationId xmlns:a16="http://schemas.microsoft.com/office/drawing/2014/main" id="{0538B6CC-5915-0AFB-5E0E-9BA9F3DD5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172" y="2000289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77" name="Rectangle 37">
            <a:extLst>
              <a:ext uri="{FF2B5EF4-FFF2-40B4-BE49-F238E27FC236}">
                <a16:creationId xmlns:a16="http://schemas.microsoft.com/office/drawing/2014/main" id="{F377C8C5-648D-4D18-6641-587C34F8B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0442" y="2212419"/>
            <a:ext cx="7437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소결로</a:t>
            </a:r>
            <a:endParaRPr lang="en-US" altLang="ko-KR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sym typeface="Wingdings" panose="05000000000000000000" pitchFamily="2" charset="2"/>
            </a:endParaRPr>
          </a:p>
          <a:p>
            <a:pPr algn="ctr"/>
            <a:r>
              <a:rPr lang="en-US" altLang="ko-KR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Belt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8" name="Rectangle 37">
            <a:extLst>
              <a:ext uri="{FF2B5EF4-FFF2-40B4-BE49-F238E27FC236}">
                <a16:creationId xmlns:a16="http://schemas.microsoft.com/office/drawing/2014/main" id="{592921AB-B3FA-61C1-FEC1-FF1555DDA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72" y="2320429"/>
            <a:ext cx="74377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9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각도 고정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79" name="원호 78">
            <a:extLst>
              <a:ext uri="{FF2B5EF4-FFF2-40B4-BE49-F238E27FC236}">
                <a16:creationId xmlns:a16="http://schemas.microsoft.com/office/drawing/2014/main" id="{EEB13ACF-9C50-BA45-AAFA-350B3AC86A20}"/>
              </a:ext>
            </a:extLst>
          </p:cNvPr>
          <p:cNvSpPr/>
          <p:nvPr/>
        </p:nvSpPr>
        <p:spPr>
          <a:xfrm rot="10356044">
            <a:off x="6857631" y="1930718"/>
            <a:ext cx="309431" cy="229119"/>
          </a:xfrm>
          <a:prstGeom prst="arc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1A493E38-1867-F0CE-9EED-0347AEC37766}"/>
              </a:ext>
            </a:extLst>
          </p:cNvPr>
          <p:cNvCxnSpPr>
            <a:cxnSpLocks/>
          </p:cNvCxnSpPr>
          <p:nvPr/>
        </p:nvCxnSpPr>
        <p:spPr>
          <a:xfrm flipV="1">
            <a:off x="6761970" y="2153014"/>
            <a:ext cx="91774" cy="159124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그림 80">
            <a:extLst>
              <a:ext uri="{FF2B5EF4-FFF2-40B4-BE49-F238E27FC236}">
                <a16:creationId xmlns:a16="http://schemas.microsoft.com/office/drawing/2014/main" id="{96224887-41E7-8925-9533-1C1F2FB6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679" y="11853"/>
            <a:ext cx="1458715" cy="1040582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1CB2A5C3-8031-0389-162A-308EDA16A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1" y="1654287"/>
            <a:ext cx="2347721" cy="199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8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02CD472-6117-AEAC-9772-B1F37F212C2E}"/>
              </a:ext>
            </a:extLst>
          </p:cNvPr>
          <p:cNvSpPr/>
          <p:nvPr/>
        </p:nvSpPr>
        <p:spPr>
          <a:xfrm>
            <a:off x="5938338" y="2622292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E243F-8A29-F825-0913-F2A7C84E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6" name="文本占位符 58">
            <a:extLst>
              <a:ext uri="{FF2B5EF4-FFF2-40B4-BE49-F238E27FC236}">
                <a16:creationId xmlns:a16="http://schemas.microsoft.com/office/drawing/2014/main" id="{AEB5C30F-9B26-39D1-B7ED-2847C9196DE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36312" y="367545"/>
            <a:ext cx="5983758" cy="32919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6 )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개선 대책</a:t>
            </a:r>
            <a:endParaRPr lang="zh-CN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37">
            <a:extLst>
              <a:ext uri="{FF2B5EF4-FFF2-40B4-BE49-F238E27FC236}">
                <a16:creationId xmlns:a16="http://schemas.microsoft.com/office/drawing/2014/main" id="{D6BD1215-43F5-27A2-4D47-A98190F3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86757"/>
            <a:ext cx="49809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제품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깨짐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6DB482B-1A9E-55A5-BFD6-BC51BD5AD648}"/>
              </a:ext>
            </a:extLst>
          </p:cNvPr>
          <p:cNvCxnSpPr>
            <a:cxnSpLocks/>
          </p:cNvCxnSpPr>
          <p:nvPr/>
        </p:nvCxnSpPr>
        <p:spPr>
          <a:xfrm>
            <a:off x="3851920" y="1168544"/>
            <a:ext cx="0" cy="309634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E783AAF-91B2-5BD3-CB61-1DCE9C7F2A0B}"/>
              </a:ext>
            </a:extLst>
          </p:cNvPr>
          <p:cNvCxnSpPr>
            <a:cxnSpLocks/>
          </p:cNvCxnSpPr>
          <p:nvPr/>
        </p:nvCxnSpPr>
        <p:spPr>
          <a:xfrm>
            <a:off x="611560" y="1491630"/>
            <a:ext cx="770485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37">
            <a:extLst>
              <a:ext uri="{FF2B5EF4-FFF2-40B4-BE49-F238E27FC236}">
                <a16:creationId xmlns:a16="http://schemas.microsoft.com/office/drawing/2014/main" id="{C793F2D5-F33A-516B-A92D-46E014183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635" y="1176837"/>
            <a:ext cx="1526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전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58" name="Rectangle 37">
            <a:extLst>
              <a:ext uri="{FF2B5EF4-FFF2-40B4-BE49-F238E27FC236}">
                <a16:creationId xmlns:a16="http://schemas.microsoft.com/office/drawing/2014/main" id="{98668E6D-C1C7-6E77-1042-266C0AA4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366" y="1176566"/>
            <a:ext cx="1526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algn="ctr"/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개선 후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60" name="Rectangle 37">
            <a:extLst>
              <a:ext uri="{FF2B5EF4-FFF2-40B4-BE49-F238E27FC236}">
                <a16:creationId xmlns:a16="http://schemas.microsoft.com/office/drawing/2014/main" id="{B7ECD2A6-9BBC-E79F-33C3-802AD3465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49" y="3428595"/>
            <a:ext cx="2857973" cy="23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 lvl="0" defTabSz="914400" fontAlgn="b" latinLnBrk="1">
              <a:lnSpc>
                <a:spcPts val="13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</a:t>
            </a:r>
            <a:r>
              <a:rPr kumimoji="1" lang="en-US" altLang="ko-KR" sz="8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Mullite Pusher</a:t>
            </a:r>
            <a:r>
              <a:rPr kumimoji="1" lang="ko-KR" altLang="en-US" sz="8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가 하강 시 제품과 충돌 가능</a:t>
            </a:r>
            <a:endParaRPr kumimoji="1" lang="en-US" altLang="ko-KR" sz="800" dirty="0">
              <a:latin typeface="+mj-ea"/>
            </a:endParaRPr>
          </a:p>
        </p:txBody>
      </p:sp>
      <p:sp>
        <p:nvSpPr>
          <p:cNvPr id="64" name="Rectangle 37">
            <a:extLst>
              <a:ext uri="{FF2B5EF4-FFF2-40B4-BE49-F238E27FC236}">
                <a16:creationId xmlns:a16="http://schemas.microsoft.com/office/drawing/2014/main" id="{4A67FE9A-248D-1DF6-8BC7-9D3A2AD7A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939" y="3428595"/>
            <a:ext cx="4858113" cy="1104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1.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Mullite Pusher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시작 위치를 변경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(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뒤에서 내려가게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2. Mullite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Pusher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가 먼저 하강 후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Mullite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와 접촉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3.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이후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3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점 실린더가 하강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※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전에는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Mullite Pusher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실린더와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3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점 실린더가 </a:t>
            </a:r>
            <a:r>
              <a:rPr lang="ko-KR" altLang="en-US" sz="900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일체형이였지만</a:t>
            </a:r>
            <a:endParaRPr lang="en-US" altLang="ko-KR" sz="900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   Wheel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을 적용 하면서 분할 함 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(PLC </a:t>
            </a:r>
            <a:r>
              <a:rPr lang="ko-KR" altLang="en-US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수정이 가능하게 됨</a:t>
            </a:r>
            <a:r>
              <a:rPr lang="en-US" altLang="ko-KR" sz="900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C91BA6-50D4-9D16-2A5F-5FF0097D1A27}"/>
              </a:ext>
            </a:extLst>
          </p:cNvPr>
          <p:cNvSpPr/>
          <p:nvPr/>
        </p:nvSpPr>
        <p:spPr>
          <a:xfrm>
            <a:off x="1161521" y="214357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1F0671-E8C3-C84A-3D62-0C23E18193C8}"/>
              </a:ext>
            </a:extLst>
          </p:cNvPr>
          <p:cNvSpPr/>
          <p:nvPr/>
        </p:nvSpPr>
        <p:spPr>
          <a:xfrm>
            <a:off x="1281821" y="214357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C989B6-25CE-F356-3219-AB94E01C0698}"/>
              </a:ext>
            </a:extLst>
          </p:cNvPr>
          <p:cNvSpPr/>
          <p:nvPr/>
        </p:nvSpPr>
        <p:spPr>
          <a:xfrm>
            <a:off x="1380312" y="214357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9D8770-A255-A526-B097-F32ABCE83E36}"/>
              </a:ext>
            </a:extLst>
          </p:cNvPr>
          <p:cNvSpPr/>
          <p:nvPr/>
        </p:nvSpPr>
        <p:spPr>
          <a:xfrm>
            <a:off x="718863" y="2979064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F08A8C-6AF5-A903-3971-1FA99EF826F0}"/>
              </a:ext>
            </a:extLst>
          </p:cNvPr>
          <p:cNvSpPr/>
          <p:nvPr/>
        </p:nvSpPr>
        <p:spPr>
          <a:xfrm>
            <a:off x="1771917" y="2442675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DE6581-1D5A-FF43-0C9B-FE46B7EB4A9B}"/>
              </a:ext>
            </a:extLst>
          </p:cNvPr>
          <p:cNvSpPr/>
          <p:nvPr/>
        </p:nvSpPr>
        <p:spPr>
          <a:xfrm>
            <a:off x="1924318" y="2128912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DDD088-97CA-F6E6-E393-2C594A8820C4}"/>
              </a:ext>
            </a:extLst>
          </p:cNvPr>
          <p:cNvSpPr/>
          <p:nvPr/>
        </p:nvSpPr>
        <p:spPr>
          <a:xfrm>
            <a:off x="882700" y="2858581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CA5D1F-F0B5-1A48-0823-686E232A9A13}"/>
              </a:ext>
            </a:extLst>
          </p:cNvPr>
          <p:cNvSpPr/>
          <p:nvPr/>
        </p:nvSpPr>
        <p:spPr>
          <a:xfrm>
            <a:off x="1025918" y="2633234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09EE74-895D-1FB6-94F0-220F63703F70}"/>
              </a:ext>
            </a:extLst>
          </p:cNvPr>
          <p:cNvSpPr/>
          <p:nvPr/>
        </p:nvSpPr>
        <p:spPr>
          <a:xfrm>
            <a:off x="926975" y="2702922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5DC623-EB90-F94E-76F6-0BB6BD86C8A7}"/>
              </a:ext>
            </a:extLst>
          </p:cNvPr>
          <p:cNvSpPr/>
          <p:nvPr/>
        </p:nvSpPr>
        <p:spPr>
          <a:xfrm>
            <a:off x="1036396" y="2753990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9AA865-5811-B6F7-E990-1454C9B0BA4C}"/>
              </a:ext>
            </a:extLst>
          </p:cNvPr>
          <p:cNvSpPr/>
          <p:nvPr/>
        </p:nvSpPr>
        <p:spPr>
          <a:xfrm>
            <a:off x="926975" y="2805058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7">
            <a:extLst>
              <a:ext uri="{FF2B5EF4-FFF2-40B4-BE49-F238E27FC236}">
                <a16:creationId xmlns:a16="http://schemas.microsoft.com/office/drawing/2014/main" id="{DA3128F9-7B96-8344-45DA-95B096433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405" y="2637640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6" name="Rectangle 37">
            <a:extLst>
              <a:ext uri="{FF2B5EF4-FFF2-40B4-BE49-F238E27FC236}">
                <a16:creationId xmlns:a16="http://schemas.microsoft.com/office/drawing/2014/main" id="{809C7638-E457-E6FE-7A18-0E714E57B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565" y="2814755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Rectangle 37">
            <a:extLst>
              <a:ext uri="{FF2B5EF4-FFF2-40B4-BE49-F238E27FC236}">
                <a16:creationId xmlns:a16="http://schemas.microsoft.com/office/drawing/2014/main" id="{AEB00AE3-B6DD-A7C5-9C61-412F3268D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117" y="2965679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E4FE55-A9A8-C12B-51EE-0FFC4037D922}"/>
              </a:ext>
            </a:extLst>
          </p:cNvPr>
          <p:cNvSpPr/>
          <p:nvPr/>
        </p:nvSpPr>
        <p:spPr>
          <a:xfrm>
            <a:off x="2840068" y="19732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0372C3-A5FC-941C-A8B2-F72940A8E6F0}"/>
              </a:ext>
            </a:extLst>
          </p:cNvPr>
          <p:cNvSpPr/>
          <p:nvPr/>
        </p:nvSpPr>
        <p:spPr>
          <a:xfrm>
            <a:off x="2960368" y="19732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6FFAA6-A60D-9D9C-A768-11BEE3CCCA02}"/>
              </a:ext>
            </a:extLst>
          </p:cNvPr>
          <p:cNvSpPr/>
          <p:nvPr/>
        </p:nvSpPr>
        <p:spPr>
          <a:xfrm>
            <a:off x="3058859" y="19732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90E5FD-276A-4123-D9B2-E82145D87657}"/>
              </a:ext>
            </a:extLst>
          </p:cNvPr>
          <p:cNvSpPr/>
          <p:nvPr/>
        </p:nvSpPr>
        <p:spPr>
          <a:xfrm>
            <a:off x="2397410" y="2983522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737268-A990-3C7B-A4AB-44E72CE0453A}"/>
              </a:ext>
            </a:extLst>
          </p:cNvPr>
          <p:cNvSpPr/>
          <p:nvPr/>
        </p:nvSpPr>
        <p:spPr>
          <a:xfrm>
            <a:off x="3450464" y="2272395"/>
            <a:ext cx="275733" cy="1846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4AF322-FF06-839F-94A1-84D2CCB2ABC2}"/>
              </a:ext>
            </a:extLst>
          </p:cNvPr>
          <p:cNvSpPr/>
          <p:nvPr/>
        </p:nvSpPr>
        <p:spPr>
          <a:xfrm>
            <a:off x="3602865" y="1958632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E0E4C3-0250-D540-221F-A147A4659093}"/>
              </a:ext>
            </a:extLst>
          </p:cNvPr>
          <p:cNvSpPr/>
          <p:nvPr/>
        </p:nvSpPr>
        <p:spPr>
          <a:xfrm>
            <a:off x="2561247" y="2863039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161EF1-C751-FDD3-C646-BC46CC2D8272}"/>
              </a:ext>
            </a:extLst>
          </p:cNvPr>
          <p:cNvSpPr/>
          <p:nvPr/>
        </p:nvSpPr>
        <p:spPr>
          <a:xfrm>
            <a:off x="2689225" y="2637692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DB06A6-AFE4-5C35-32EB-7599AD4A8DEF}"/>
              </a:ext>
            </a:extLst>
          </p:cNvPr>
          <p:cNvSpPr/>
          <p:nvPr/>
        </p:nvSpPr>
        <p:spPr>
          <a:xfrm>
            <a:off x="2605522" y="2707380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CDB6E6-14FA-20BE-7B13-AE8B40513CA9}"/>
              </a:ext>
            </a:extLst>
          </p:cNvPr>
          <p:cNvSpPr/>
          <p:nvPr/>
        </p:nvSpPr>
        <p:spPr>
          <a:xfrm>
            <a:off x="2714943" y="2758448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6E5F396-8D13-A23A-E564-BE47E474A67E}"/>
              </a:ext>
            </a:extLst>
          </p:cNvPr>
          <p:cNvSpPr/>
          <p:nvPr/>
        </p:nvSpPr>
        <p:spPr>
          <a:xfrm>
            <a:off x="2605522" y="2809516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37">
            <a:extLst>
              <a:ext uri="{FF2B5EF4-FFF2-40B4-BE49-F238E27FC236}">
                <a16:creationId xmlns:a16="http://schemas.microsoft.com/office/drawing/2014/main" id="{ADD9AF91-0CC4-F0D4-6DEB-0304B16A0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952" y="2642098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30" name="Rectangle 37">
            <a:extLst>
              <a:ext uri="{FF2B5EF4-FFF2-40B4-BE49-F238E27FC236}">
                <a16:creationId xmlns:a16="http://schemas.microsoft.com/office/drawing/2014/main" id="{F21050CF-FA64-8C90-364E-6FBA57A30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112" y="2819213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ADA7A8C8-B780-B17B-BD29-29A7D539F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664" y="2970137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32" name="폭발: 14pt 31">
            <a:extLst>
              <a:ext uri="{FF2B5EF4-FFF2-40B4-BE49-F238E27FC236}">
                <a16:creationId xmlns:a16="http://schemas.microsoft.com/office/drawing/2014/main" id="{1FD192FD-BA8F-DB6D-B3FB-380A6A654D9E}"/>
              </a:ext>
            </a:extLst>
          </p:cNvPr>
          <p:cNvSpPr/>
          <p:nvPr/>
        </p:nvSpPr>
        <p:spPr>
          <a:xfrm>
            <a:off x="1625377" y="2521180"/>
            <a:ext cx="323644" cy="237268"/>
          </a:xfrm>
          <a:prstGeom prst="irregularSeal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98456B8-B81C-E235-BCB4-89B59E236C48}"/>
              </a:ext>
            </a:extLst>
          </p:cNvPr>
          <p:cNvCxnSpPr>
            <a:cxnSpLocks/>
          </p:cNvCxnSpPr>
          <p:nvPr/>
        </p:nvCxnSpPr>
        <p:spPr>
          <a:xfrm flipH="1">
            <a:off x="2073410" y="2702922"/>
            <a:ext cx="324000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D1EC17-755B-BE0A-2463-B34F239144AC}"/>
              </a:ext>
            </a:extLst>
          </p:cNvPr>
          <p:cNvSpPr/>
          <p:nvPr/>
        </p:nvSpPr>
        <p:spPr>
          <a:xfrm>
            <a:off x="4513699" y="2355870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990CD9-B873-BB55-3918-BB71479C5FD2}"/>
              </a:ext>
            </a:extLst>
          </p:cNvPr>
          <p:cNvSpPr/>
          <p:nvPr/>
        </p:nvSpPr>
        <p:spPr>
          <a:xfrm>
            <a:off x="4633999" y="2355870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5A30B9A-EB00-33EA-9C90-E4D4424AD2A5}"/>
              </a:ext>
            </a:extLst>
          </p:cNvPr>
          <p:cNvSpPr/>
          <p:nvPr/>
        </p:nvSpPr>
        <p:spPr>
          <a:xfrm>
            <a:off x="4732490" y="2355870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EFFBA88-DF6D-F3EE-8C0C-26E668C47E7A}"/>
              </a:ext>
            </a:extLst>
          </p:cNvPr>
          <p:cNvSpPr/>
          <p:nvPr/>
        </p:nvSpPr>
        <p:spPr>
          <a:xfrm>
            <a:off x="3980909" y="2979064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9DA5C3D-5B73-5C7C-B337-592DB3F3063B}"/>
              </a:ext>
            </a:extLst>
          </p:cNvPr>
          <p:cNvSpPr/>
          <p:nvPr/>
        </p:nvSpPr>
        <p:spPr>
          <a:xfrm>
            <a:off x="5033963" y="2838157"/>
            <a:ext cx="275733" cy="1097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EC27F7-3DC2-220E-3EFB-07D85267AC05}"/>
              </a:ext>
            </a:extLst>
          </p:cNvPr>
          <p:cNvSpPr/>
          <p:nvPr/>
        </p:nvSpPr>
        <p:spPr>
          <a:xfrm>
            <a:off x="5186364" y="2449421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51E80E5-1BCB-B3B6-46E2-646CB277B15E}"/>
              </a:ext>
            </a:extLst>
          </p:cNvPr>
          <p:cNvSpPr/>
          <p:nvPr/>
        </p:nvSpPr>
        <p:spPr>
          <a:xfrm>
            <a:off x="4144746" y="2858581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381A0F-184D-81D7-AD32-A61A6D064359}"/>
              </a:ext>
            </a:extLst>
          </p:cNvPr>
          <p:cNvSpPr/>
          <p:nvPr/>
        </p:nvSpPr>
        <p:spPr>
          <a:xfrm>
            <a:off x="4227039" y="2633234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228E440-84DA-A0DB-B1AE-37AB45D20AD1}"/>
              </a:ext>
            </a:extLst>
          </p:cNvPr>
          <p:cNvSpPr/>
          <p:nvPr/>
        </p:nvSpPr>
        <p:spPr>
          <a:xfrm>
            <a:off x="4225585" y="2702922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68AE231-4872-7E97-6B65-B497A388C652}"/>
              </a:ext>
            </a:extLst>
          </p:cNvPr>
          <p:cNvSpPr/>
          <p:nvPr/>
        </p:nvSpPr>
        <p:spPr>
          <a:xfrm>
            <a:off x="4231178" y="2753990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B367CF1-83A7-18BC-30A3-3CFFB2818539}"/>
              </a:ext>
            </a:extLst>
          </p:cNvPr>
          <p:cNvSpPr/>
          <p:nvPr/>
        </p:nvSpPr>
        <p:spPr>
          <a:xfrm>
            <a:off x="4189021" y="2805058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37">
            <a:extLst>
              <a:ext uri="{FF2B5EF4-FFF2-40B4-BE49-F238E27FC236}">
                <a16:creationId xmlns:a16="http://schemas.microsoft.com/office/drawing/2014/main" id="{82284A18-3D15-BB44-A9C6-3BBD8CB8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451" y="2637640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2A7E445B-0111-B4FC-5B3A-85DA817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611" y="2814755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Rectangle 37">
            <a:extLst>
              <a:ext uri="{FF2B5EF4-FFF2-40B4-BE49-F238E27FC236}">
                <a16:creationId xmlns:a16="http://schemas.microsoft.com/office/drawing/2014/main" id="{81C6E249-84E8-22AA-4438-08E985C1D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163" y="2965679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F8B92FD-F6D9-9270-B1BF-7BFA2FD75C90}"/>
              </a:ext>
            </a:extLst>
          </p:cNvPr>
          <p:cNvSpPr/>
          <p:nvPr/>
        </p:nvSpPr>
        <p:spPr>
          <a:xfrm>
            <a:off x="8151346" y="19578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4D9D53A-3382-08E7-8689-322153450D54}"/>
              </a:ext>
            </a:extLst>
          </p:cNvPr>
          <p:cNvSpPr/>
          <p:nvPr/>
        </p:nvSpPr>
        <p:spPr>
          <a:xfrm>
            <a:off x="8271646" y="19578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0A54F41-C717-A92B-38F5-A6D46A540D8B}"/>
              </a:ext>
            </a:extLst>
          </p:cNvPr>
          <p:cNvSpPr/>
          <p:nvPr/>
        </p:nvSpPr>
        <p:spPr>
          <a:xfrm>
            <a:off x="8370137" y="19578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B144523-38A0-F5D0-729D-369DAE830AD1}"/>
              </a:ext>
            </a:extLst>
          </p:cNvPr>
          <p:cNvSpPr/>
          <p:nvPr/>
        </p:nvSpPr>
        <p:spPr>
          <a:xfrm>
            <a:off x="7469303" y="2968122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E520DD9-435F-7AE0-4857-560BDC1D7EAC}"/>
              </a:ext>
            </a:extLst>
          </p:cNvPr>
          <p:cNvSpPr/>
          <p:nvPr/>
        </p:nvSpPr>
        <p:spPr>
          <a:xfrm>
            <a:off x="8748055" y="2341669"/>
            <a:ext cx="275733" cy="10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3C80BEE-0D3E-7EFE-6EB7-F7BA8F782768}"/>
              </a:ext>
            </a:extLst>
          </p:cNvPr>
          <p:cNvSpPr/>
          <p:nvPr/>
        </p:nvSpPr>
        <p:spPr>
          <a:xfrm>
            <a:off x="8900456" y="1966903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AD3D8B3-DDBA-7189-CBDE-4A13E6EFFB1A}"/>
              </a:ext>
            </a:extLst>
          </p:cNvPr>
          <p:cNvSpPr/>
          <p:nvPr/>
        </p:nvSpPr>
        <p:spPr>
          <a:xfrm>
            <a:off x="7633140" y="2847639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70BC822-A054-226A-9ECF-35F4E81260CD}"/>
              </a:ext>
            </a:extLst>
          </p:cNvPr>
          <p:cNvSpPr/>
          <p:nvPr/>
        </p:nvSpPr>
        <p:spPr>
          <a:xfrm>
            <a:off x="7761118" y="2622292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0A42778-3C70-14A0-BC7A-A477D7916309}"/>
              </a:ext>
            </a:extLst>
          </p:cNvPr>
          <p:cNvSpPr/>
          <p:nvPr/>
        </p:nvSpPr>
        <p:spPr>
          <a:xfrm>
            <a:off x="7677415" y="2691980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D158B9C-57CC-1738-D608-8C1AF4DD0C0B}"/>
              </a:ext>
            </a:extLst>
          </p:cNvPr>
          <p:cNvSpPr/>
          <p:nvPr/>
        </p:nvSpPr>
        <p:spPr>
          <a:xfrm>
            <a:off x="7786836" y="2743048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8A88164-A7F4-1CFB-4D35-FFD9143DD793}"/>
              </a:ext>
            </a:extLst>
          </p:cNvPr>
          <p:cNvSpPr/>
          <p:nvPr/>
        </p:nvSpPr>
        <p:spPr>
          <a:xfrm>
            <a:off x="7677415" y="2794116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37">
            <a:extLst>
              <a:ext uri="{FF2B5EF4-FFF2-40B4-BE49-F238E27FC236}">
                <a16:creationId xmlns:a16="http://schemas.microsoft.com/office/drawing/2014/main" id="{AB785C69-28C0-9809-F1FA-DA210B3A5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5845" y="2626698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88" name="Rectangle 37">
            <a:extLst>
              <a:ext uri="{FF2B5EF4-FFF2-40B4-BE49-F238E27FC236}">
                <a16:creationId xmlns:a16="http://schemas.microsoft.com/office/drawing/2014/main" id="{FC7D01F1-899B-4BA9-AAA0-D08C36575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005" y="2803813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9" name="Rectangle 37">
            <a:extLst>
              <a:ext uri="{FF2B5EF4-FFF2-40B4-BE49-F238E27FC236}">
                <a16:creationId xmlns:a16="http://schemas.microsoft.com/office/drawing/2014/main" id="{3948D380-444E-498A-1AA8-4E0D326BD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6557" y="2954737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4FF29FD-626F-1439-569F-824CDB964C96}"/>
              </a:ext>
            </a:extLst>
          </p:cNvPr>
          <p:cNvSpPr/>
          <p:nvPr/>
        </p:nvSpPr>
        <p:spPr>
          <a:xfrm>
            <a:off x="6418196" y="19578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8AD8DBA-A9D7-AB1F-E11B-6AE2ECE46BC2}"/>
              </a:ext>
            </a:extLst>
          </p:cNvPr>
          <p:cNvSpPr/>
          <p:nvPr/>
        </p:nvSpPr>
        <p:spPr>
          <a:xfrm>
            <a:off x="6538496" y="19578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CE8EEB-C6A8-FB15-FA42-412636F17011}"/>
              </a:ext>
            </a:extLst>
          </p:cNvPr>
          <p:cNvSpPr/>
          <p:nvPr/>
        </p:nvSpPr>
        <p:spPr>
          <a:xfrm>
            <a:off x="6636987" y="1957892"/>
            <a:ext cx="63278" cy="4946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0DBCFB9-9CC7-8A56-3967-B12265F27948}"/>
              </a:ext>
            </a:extLst>
          </p:cNvPr>
          <p:cNvSpPr/>
          <p:nvPr/>
        </p:nvSpPr>
        <p:spPr>
          <a:xfrm>
            <a:off x="5646523" y="2968122"/>
            <a:ext cx="1018733" cy="1846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54AEFAF-F7AD-F866-1DD9-558C173A7FF6}"/>
              </a:ext>
            </a:extLst>
          </p:cNvPr>
          <p:cNvSpPr/>
          <p:nvPr/>
        </p:nvSpPr>
        <p:spPr>
          <a:xfrm>
            <a:off x="6925275" y="2854081"/>
            <a:ext cx="275733" cy="914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0C7C53C-D884-5EB7-2266-79BC195898A0}"/>
              </a:ext>
            </a:extLst>
          </p:cNvPr>
          <p:cNvSpPr/>
          <p:nvPr/>
        </p:nvSpPr>
        <p:spPr>
          <a:xfrm>
            <a:off x="7077676" y="2447066"/>
            <a:ext cx="123332" cy="4819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ACEC738-0DA4-E703-F817-F2F1CC217C71}"/>
              </a:ext>
            </a:extLst>
          </p:cNvPr>
          <p:cNvSpPr/>
          <p:nvPr/>
        </p:nvSpPr>
        <p:spPr>
          <a:xfrm>
            <a:off x="5810360" y="2847639"/>
            <a:ext cx="854896" cy="970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2A13E0C-EE07-E837-4BB7-C1682E689ADF}"/>
              </a:ext>
            </a:extLst>
          </p:cNvPr>
          <p:cNvSpPr/>
          <p:nvPr/>
        </p:nvSpPr>
        <p:spPr>
          <a:xfrm>
            <a:off x="5854635" y="2691980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2CFBAB3-1B0C-7CB6-3F13-A0A4E79F8DEC}"/>
              </a:ext>
            </a:extLst>
          </p:cNvPr>
          <p:cNvSpPr/>
          <p:nvPr/>
        </p:nvSpPr>
        <p:spPr>
          <a:xfrm>
            <a:off x="5964056" y="2743048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39A31FA-1AEB-B8E2-E500-1C3CA37B63BB}"/>
              </a:ext>
            </a:extLst>
          </p:cNvPr>
          <p:cNvSpPr/>
          <p:nvPr/>
        </p:nvSpPr>
        <p:spPr>
          <a:xfrm>
            <a:off x="5854635" y="2794116"/>
            <a:ext cx="756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37">
            <a:extLst>
              <a:ext uri="{FF2B5EF4-FFF2-40B4-BE49-F238E27FC236}">
                <a16:creationId xmlns:a16="http://schemas.microsoft.com/office/drawing/2014/main" id="{FF4962E9-5B22-2FEC-DE7F-35AE348E2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065" y="2626698"/>
            <a:ext cx="4504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10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제품</a:t>
            </a:r>
            <a:endParaRPr lang="ko-KR" altLang="en-US" sz="9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5" name="Rectangle 37">
            <a:extLst>
              <a:ext uri="{FF2B5EF4-FFF2-40B4-BE49-F238E27FC236}">
                <a16:creationId xmlns:a16="http://schemas.microsoft.com/office/drawing/2014/main" id="{6ED0DD70-260E-671C-D086-C4C0871AA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225" y="2803813"/>
            <a:ext cx="45049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en-US" altLang="ko-KR" sz="6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sym typeface="Wingdings" panose="05000000000000000000" pitchFamily="2" charset="2"/>
              </a:rPr>
              <a:t>Mullite</a:t>
            </a:r>
            <a:endParaRPr lang="ko-KR" altLang="en-US" sz="5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6" name="Rectangle 37">
            <a:extLst>
              <a:ext uri="{FF2B5EF4-FFF2-40B4-BE49-F238E27FC236}">
                <a16:creationId xmlns:a16="http://schemas.microsoft.com/office/drawing/2014/main" id="{8BB97268-870A-136F-2871-40D1210EF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777" y="2954737"/>
            <a:ext cx="450499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r>
              <a:rPr lang="ko-KR" altLang="en-US" sz="900" b="1" kern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롤러</a:t>
            </a:r>
            <a:endParaRPr lang="ko-KR" altLang="en-US" sz="800" b="1" kern="0" dirty="0">
              <a:ln>
                <a:solidFill>
                  <a:schemeClr val="bg1">
                    <a:lumMod val="75000"/>
                    <a:alpha val="2000"/>
                  </a:scheme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04C38C2-D808-1A34-353B-1C082052F580}"/>
              </a:ext>
            </a:extLst>
          </p:cNvPr>
          <p:cNvCxnSpPr>
            <a:cxnSpLocks/>
          </p:cNvCxnSpPr>
          <p:nvPr/>
        </p:nvCxnSpPr>
        <p:spPr>
          <a:xfrm flipH="1">
            <a:off x="7307303" y="2669234"/>
            <a:ext cx="324000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29CA337-D4E0-FC27-C719-43C7D1AE92AF}"/>
              </a:ext>
            </a:extLst>
          </p:cNvPr>
          <p:cNvCxnSpPr>
            <a:cxnSpLocks/>
          </p:cNvCxnSpPr>
          <p:nvPr/>
        </p:nvCxnSpPr>
        <p:spPr>
          <a:xfrm flipH="1">
            <a:off x="5387166" y="2659572"/>
            <a:ext cx="324000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00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D813-4566-7CC0-FD08-597B18598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5039AF-F52D-F5FD-12A9-2869FC7CA91F}"/>
              </a:ext>
            </a:extLst>
          </p:cNvPr>
          <p:cNvGraphicFramePr>
            <a:graphicFrameLocks noGrp="1"/>
          </p:cNvGraphicFramePr>
          <p:nvPr/>
        </p:nvGraphicFramePr>
        <p:xfrm>
          <a:off x="60896" y="51470"/>
          <a:ext cx="9062392" cy="4982264"/>
        </p:xfrm>
        <a:graphic>
          <a:graphicData uri="http://schemas.openxmlformats.org/drawingml/2006/table">
            <a:tbl>
              <a:tblPr/>
              <a:tblGrid>
                <a:gridCol w="110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416">
                  <a:extLst>
                    <a:ext uri="{9D8B030D-6E8A-4147-A177-3AD203B41FA5}">
                      <a16:colId xmlns:a16="http://schemas.microsoft.com/office/drawing/2014/main" val="3845844877"/>
                    </a:ext>
                  </a:extLst>
                </a:gridCol>
                <a:gridCol w="4066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4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9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9968">
                <a:tc rowSpan="3"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0" algn="l"/>
                        </a:tabLst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■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TPA800/1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→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Abbott36”/1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자동화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Trouble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개선 대책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8016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작성부서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담당관리직</a:t>
                      </a:r>
                      <a:endParaRPr lang="ko-KR" altLang="en-US" b="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발표자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결재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7/21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문제부위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임시 조치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근본 개선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유첨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640"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1. PLC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수정 완료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: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현장 적용 및 작업자 교육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(~7/24)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2. Chute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쳐짐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방지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Type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으로 수정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3. 3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점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정렬봉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형상 변경 검토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공기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0" dirty="0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 </a:t>
                      </a:r>
                      <a:r>
                        <a:rPr lang="ko-KR" altLang="en-US" sz="800" kern="0" dirty="0" err="1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어큠</a:t>
                      </a:r>
                      <a:r>
                        <a:rPr lang="ko-KR" altLang="en-US" sz="800" kern="0" dirty="0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롤러 및 노후 실린더 점검 및 교체 예정 </a:t>
                      </a:r>
                      <a:r>
                        <a:rPr lang="en-US" altLang="ko-KR" sz="800" kern="0" dirty="0">
                          <a:ln>
                            <a:solidFill>
                              <a:schemeClr val="bg1">
                                <a:lumMod val="75000"/>
                                <a:alpha val="2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(~8/30)</a:t>
                      </a:r>
                      <a:endParaRPr lang="ko-KR" altLang="en-US" sz="800" kern="0" dirty="0">
                        <a:ln>
                          <a:solidFill>
                            <a:schemeClr val="bg1">
                              <a:lumMod val="75000"/>
                              <a:alpha val="2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※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설비 진동을 완전히 없애기는 어려움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1. TPA1200T Vision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적용 진행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중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공기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: Wheel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불량 유형 등록 완료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: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유효성 모니터링 운영 중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(~8/30)</a:t>
                      </a: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6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1.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원인 분석 및 개선 검토 계획 수립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56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분석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유첨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99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228600" marR="0" lvl="0" indent="-228600" algn="l" defTabSz="777577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1.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제품 휨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정렬 실린더 수축 시 정렬바와 제품간 마찰로 제품 틀어짐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설비 자체 진동으로 인한 제품 틀어짐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치형 깨짐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제품 정렬 틀어진 상태에서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Mullite Pusher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하강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Mullite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Pusher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와 제품간 충돌로 인한 치형 깨짐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컨베어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이송간 제품 틀어짐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3.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소결로 내 제품 엉킴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(5/26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조시장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발표 사항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indent="0">
                        <a:lnSpc>
                          <a:spcPts val="1300"/>
                        </a:lnSpc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1.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자동 소결 투입으로 간헐적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Trouble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시 인지 못하고 소결 진행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31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900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표준 반영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7951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수평전개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6348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CB4D0181-5B7D-53C2-43B9-A37058DDD63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882" y="910659"/>
            <a:ext cx="1011119" cy="128936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C444C30-5C80-51A1-3579-406FC599BBC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08" r="5734"/>
          <a:stretch>
            <a:fillRect/>
          </a:stretch>
        </p:blipFill>
        <p:spPr>
          <a:xfrm>
            <a:off x="1165173" y="910659"/>
            <a:ext cx="998473" cy="1289369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525BA6-6DA1-E06E-6F79-7820CDB90ACF}"/>
              </a:ext>
            </a:extLst>
          </p:cNvPr>
          <p:cNvCxnSpPr/>
          <p:nvPr/>
        </p:nvCxnSpPr>
        <p:spPr>
          <a:xfrm>
            <a:off x="5256053" y="843535"/>
            <a:ext cx="1" cy="720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1">
            <a:extLst>
              <a:ext uri="{FF2B5EF4-FFF2-40B4-BE49-F238E27FC236}">
                <a16:creationId xmlns:a16="http://schemas.microsoft.com/office/drawing/2014/main" id="{BFEBB1EF-0131-7001-B0C7-9E51804AD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195" y="71379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A12AE0D-FD76-A216-8799-7399B767FE6E}"/>
              </a:ext>
            </a:extLst>
          </p:cNvPr>
          <p:cNvCxnSpPr/>
          <p:nvPr/>
        </p:nvCxnSpPr>
        <p:spPr>
          <a:xfrm>
            <a:off x="8619949" y="843535"/>
            <a:ext cx="0" cy="2412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1">
            <a:extLst>
              <a:ext uri="{FF2B5EF4-FFF2-40B4-BE49-F238E27FC236}">
                <a16:creationId xmlns:a16="http://schemas.microsoft.com/office/drawing/2014/main" id="{D828FE52-AFF1-A5F5-B21A-9A8E9CEB1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9950" y="83142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CB3A9334-5518-5E96-2013-508816D3CCF6}"/>
              </a:ext>
            </a:extLst>
          </p:cNvPr>
          <p:cNvGraphicFramePr>
            <a:graphicFrameLocks noGrp="1"/>
          </p:cNvGraphicFramePr>
          <p:nvPr/>
        </p:nvGraphicFramePr>
        <p:xfrm>
          <a:off x="2293144" y="8435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</a:rPr>
                        <a:t>처리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4FBAE28D-36F6-F085-092B-3955777FA922}"/>
              </a:ext>
            </a:extLst>
          </p:cNvPr>
          <p:cNvGraphicFramePr>
            <a:graphicFrameLocks noGrp="1"/>
          </p:cNvGraphicFramePr>
          <p:nvPr/>
        </p:nvGraphicFramePr>
        <p:xfrm>
          <a:off x="2293143" y="1635646"/>
          <a:ext cx="2350865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근본개선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완료전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차기생산 임시조치 방법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16FAF9C-3E30-3FBC-0E3F-59FD58962A00}"/>
              </a:ext>
            </a:extLst>
          </p:cNvPr>
          <p:cNvSpPr txBox="1"/>
          <p:nvPr/>
        </p:nvSpPr>
        <p:spPr>
          <a:xfrm>
            <a:off x="3238447" y="809650"/>
            <a:ext cx="19030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(   </a:t>
            </a:r>
            <a:r>
              <a:rPr lang="ko-KR" altLang="en-US" sz="800" dirty="0">
                <a:latin typeface="+mn-ea"/>
                <a:ea typeface="+mn-ea"/>
              </a:rPr>
              <a:t>선별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재작업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특채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기타   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CCAF519-D8CD-700D-348B-07B67EA7BBF9}"/>
              </a:ext>
            </a:extLst>
          </p:cNvPr>
          <p:cNvSpPr/>
          <p:nvPr/>
        </p:nvSpPr>
        <p:spPr>
          <a:xfrm>
            <a:off x="3435644" y="804829"/>
            <a:ext cx="292653" cy="213541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FCA6F88B-6BDE-7D65-2400-9FB945573060}"/>
              </a:ext>
            </a:extLst>
          </p:cNvPr>
          <p:cNvGraphicFramePr>
            <a:graphicFrameLocks noGrp="1"/>
          </p:cNvGraphicFramePr>
          <p:nvPr/>
        </p:nvGraphicFramePr>
        <p:xfrm>
          <a:off x="2293378" y="26056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측면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CF976A20-2A4D-C666-C35C-74D7CF5C9388}"/>
              </a:ext>
            </a:extLst>
          </p:cNvPr>
          <p:cNvGraphicFramePr>
            <a:graphicFrameLocks noGrp="1"/>
          </p:cNvGraphicFramePr>
          <p:nvPr/>
        </p:nvGraphicFramePr>
        <p:xfrm>
          <a:off x="5724466" y="825708"/>
          <a:ext cx="1477291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및 유출 방지 대책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38038B48-F447-9AF5-D340-295995CEFA79}"/>
              </a:ext>
            </a:extLst>
          </p:cNvPr>
          <p:cNvGraphicFramePr>
            <a:graphicFrameLocks noGrp="1"/>
          </p:cNvGraphicFramePr>
          <p:nvPr/>
        </p:nvGraphicFramePr>
        <p:xfrm>
          <a:off x="6707669" y="3303806"/>
          <a:ext cx="2184811" cy="92494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표준류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개정여부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PFMEA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관리계획서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작업표준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C/Sheet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작업요령서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Group 206">
            <a:extLst>
              <a:ext uri="{FF2B5EF4-FFF2-40B4-BE49-F238E27FC236}">
                <a16:creationId xmlns:a16="http://schemas.microsoft.com/office/drawing/2014/main" id="{FFF0DC67-9339-DA52-2534-391C4BE25E62}"/>
              </a:ext>
            </a:extLst>
          </p:cNvPr>
          <p:cNvGraphicFramePr>
            <a:graphicFrameLocks noGrp="1"/>
          </p:cNvGraphicFramePr>
          <p:nvPr/>
        </p:nvGraphicFramePr>
        <p:xfrm>
          <a:off x="5777987" y="4540719"/>
          <a:ext cx="3237268" cy="419011"/>
        </p:xfrm>
        <a:graphic>
          <a:graphicData uri="http://schemas.openxmlformats.org/drawingml/2006/table">
            <a:tbl>
              <a:tblPr/>
              <a:tblGrid>
                <a:gridCol w="12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9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대상부품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적용유무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적용계획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B/Plate,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Wheel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예정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8/30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7D6CD51C-8CB7-3F6A-BB18-8ACCD5006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480" y="57404"/>
            <a:ext cx="463726" cy="151790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32E917F-A5D2-4E73-EDB7-54EABED20C97}"/>
              </a:ext>
            </a:extLst>
          </p:cNvPr>
          <p:cNvGraphicFramePr>
            <a:graphicFrameLocks noGrp="1"/>
          </p:cNvGraphicFramePr>
          <p:nvPr/>
        </p:nvGraphicFramePr>
        <p:xfrm>
          <a:off x="133833" y="2887340"/>
          <a:ext cx="2072452" cy="208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발생일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지속 발생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원인공정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소결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발견공정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소결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취출부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작업설비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TPA800/1 → Abbott36”/1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자동화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불량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일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62ea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폐기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83CA072-B8FA-1F06-F6EE-E6A5B4DC0F42}"/>
              </a:ext>
            </a:extLst>
          </p:cNvPr>
          <p:cNvGraphicFramePr>
            <a:graphicFrameLocks noGrp="1"/>
          </p:cNvGraphicFramePr>
          <p:nvPr/>
        </p:nvGraphicFramePr>
        <p:xfrm>
          <a:off x="2334527" y="1078632"/>
          <a:ext cx="28330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Lot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 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불량률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(PPM)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0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745FFF7-A900-ED12-B0E9-119321627312}"/>
              </a:ext>
            </a:extLst>
          </p:cNvPr>
          <p:cNvGraphicFramePr>
            <a:graphicFrameLocks noGrp="1"/>
          </p:cNvGraphicFramePr>
          <p:nvPr/>
        </p:nvGraphicFramePr>
        <p:xfrm>
          <a:off x="152882" y="2302121"/>
          <a:ext cx="2014363" cy="31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현상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휨 및 깨짐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993023B-70BA-141E-62C1-260C3271B4DE}"/>
              </a:ext>
            </a:extLst>
          </p:cNvPr>
          <p:cNvGraphicFramePr>
            <a:graphicFrameLocks noGrp="1"/>
          </p:cNvGraphicFramePr>
          <p:nvPr/>
        </p:nvGraphicFramePr>
        <p:xfrm>
          <a:off x="2293378" y="4361693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C7EDCDE-8EBE-72F6-4848-7AE46226833F}"/>
              </a:ext>
            </a:extLst>
          </p:cNvPr>
          <p:cNvCxnSpPr>
            <a:cxnSpLocks/>
          </p:cNvCxnSpPr>
          <p:nvPr/>
        </p:nvCxnSpPr>
        <p:spPr>
          <a:xfrm>
            <a:off x="2302020" y="4333850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09D12A-0C24-2B55-78DA-68D110BFCB9C}"/>
              </a:ext>
            </a:extLst>
          </p:cNvPr>
          <p:cNvSpPr txBox="1"/>
          <p:nvPr/>
        </p:nvSpPr>
        <p:spPr>
          <a:xfrm>
            <a:off x="8648648" y="1202619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7/24</a:t>
            </a:r>
            <a:endParaRPr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AB4B9199-DD42-8E80-4681-EA371FD6ACB7}"/>
              </a:ext>
            </a:extLst>
          </p:cNvPr>
          <p:cNvGraphicFramePr>
            <a:graphicFrameLocks noGrp="1"/>
          </p:cNvGraphicFramePr>
          <p:nvPr/>
        </p:nvGraphicFramePr>
        <p:xfrm>
          <a:off x="5741078" y="2294975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EE2E08A-A7D5-1E58-9FBE-622D7DE8F1C8}"/>
              </a:ext>
            </a:extLst>
          </p:cNvPr>
          <p:cNvCxnSpPr>
            <a:cxnSpLocks/>
          </p:cNvCxnSpPr>
          <p:nvPr/>
        </p:nvCxnSpPr>
        <p:spPr>
          <a:xfrm>
            <a:off x="5701642" y="2263448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666ACA1-9955-4A13-F30F-ABC8F964D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840" y="455801"/>
            <a:ext cx="372557" cy="246061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352C233-FF27-42B0-7C6B-F92843CECEE9}"/>
              </a:ext>
            </a:extLst>
          </p:cNvPr>
          <p:cNvCxnSpPr>
            <a:cxnSpLocks/>
          </p:cNvCxnSpPr>
          <p:nvPr/>
        </p:nvCxnSpPr>
        <p:spPr>
          <a:xfrm flipH="1">
            <a:off x="1831158" y="1347092"/>
            <a:ext cx="21031" cy="198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1BDA781-872B-A168-37DF-C879C6D99CDE}"/>
              </a:ext>
            </a:extLst>
          </p:cNvPr>
          <p:cNvSpPr txBox="1"/>
          <p:nvPr/>
        </p:nvSpPr>
        <p:spPr>
          <a:xfrm>
            <a:off x="8675091" y="2521939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</a:rPr>
              <a:t>8/30</a:t>
            </a:r>
            <a:endParaRPr lang="ko-KR" altLang="en-US" sz="800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CB0497-459C-75A7-0F97-D164A19E9F96}"/>
              </a:ext>
            </a:extLst>
          </p:cNvPr>
          <p:cNvSpPr txBox="1"/>
          <p:nvPr/>
        </p:nvSpPr>
        <p:spPr>
          <a:xfrm>
            <a:off x="8648648" y="1377572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highlight>
                  <a:srgbClr val="008000"/>
                </a:highlight>
                <a:latin typeface="+mn-ea"/>
                <a:ea typeface="+mn-ea"/>
              </a:rPr>
              <a:t>7/17</a:t>
            </a:r>
            <a:endParaRPr lang="ko-KR" altLang="en-US" sz="800" dirty="0">
              <a:solidFill>
                <a:schemeClr val="bg1"/>
              </a:solidFill>
              <a:highlight>
                <a:srgbClr val="008000"/>
              </a:highlight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59E258-02D0-A763-85B4-977E03B03414}"/>
              </a:ext>
            </a:extLst>
          </p:cNvPr>
          <p:cNvSpPr txBox="1"/>
          <p:nvPr/>
        </p:nvSpPr>
        <p:spPr>
          <a:xfrm>
            <a:off x="8648648" y="1575828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8/30</a:t>
            </a:r>
            <a:endParaRPr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5CC2FF-E4F7-F2E7-0D40-9D912071D80F}"/>
              </a:ext>
            </a:extLst>
          </p:cNvPr>
          <p:cNvSpPr txBox="1"/>
          <p:nvPr/>
        </p:nvSpPr>
        <p:spPr>
          <a:xfrm>
            <a:off x="8648648" y="1728228"/>
            <a:ext cx="393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8/30</a:t>
            </a:r>
            <a:endParaRPr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583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40874</TotalTime>
  <Words>1231</Words>
  <Application>Microsoft Office PowerPoint</Application>
  <PresentationFormat>화면 슬라이드 쇼(16:9)</PresentationFormat>
  <Paragraphs>320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 Unicode MS</vt:lpstr>
      <vt:lpstr>맑은 고딕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jisun</dc:creator>
  <cp:lastModifiedBy>Yonghyun Sung</cp:lastModifiedBy>
  <cp:revision>2503</cp:revision>
  <cp:lastPrinted>2026-03-26T05:32:15Z</cp:lastPrinted>
  <dcterms:created xsi:type="dcterms:W3CDTF">2013-11-06T01:35:41Z</dcterms:created>
  <dcterms:modified xsi:type="dcterms:W3CDTF">2026-07-20T08:30:27Z</dcterms:modified>
</cp:coreProperties>
</file>